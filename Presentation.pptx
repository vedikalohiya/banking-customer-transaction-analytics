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84" r:id="rId2"/>
    <p:sldId id="285" r:id="rId3"/>
    <p:sldId id="287" r:id="rId4"/>
    <p:sldId id="288" r:id="rId5"/>
    <p:sldId id="289" r:id="rId6"/>
    <p:sldId id="277" r:id="rId7"/>
    <p:sldId id="261" r:id="rId8"/>
    <p:sldId id="306" r:id="rId9"/>
    <p:sldId id="292" r:id="rId10"/>
    <p:sldId id="304" r:id="rId11"/>
    <p:sldId id="297" r:id="rId12"/>
    <p:sldId id="300" r:id="rId13"/>
    <p:sldId id="298" r:id="rId14"/>
    <p:sldId id="302" r:id="rId15"/>
    <p:sldId id="303" r:id="rId16"/>
    <p:sldId id="299" r:id="rId17"/>
    <p:sldId id="307" r:id="rId18"/>
    <p:sldId id="296" r:id="rId19"/>
    <p:sldId id="295" r:id="rId20"/>
    <p:sldId id="305" r:id="rId21"/>
  </p:sldIdLst>
  <p:sldSz cx="18288000" cy="10287000"/>
  <p:notesSz cx="6858000" cy="9144000"/>
  <p:embeddedFontLst>
    <p:embeddedFont>
      <p:font typeface="Abadi" panose="020B0604020104020204" pitchFamily="34" charset="0"/>
      <p:regular r:id="rId22"/>
      <p:bold r:id="rId23"/>
      <p:italic r:id="rId24"/>
      <p:boldItalic r:id="rId25"/>
    </p:embeddedFont>
    <p:embeddedFont>
      <p:font typeface="Aparajita" panose="02020603050405020304" pitchFamily="18" charset="0"/>
      <p:regular r:id="rId26"/>
      <p:bold r:id="rId27"/>
      <p:italic r:id="rId28"/>
      <p:boldItalic r:id="rId29"/>
    </p:embeddedFont>
    <p:embeddedFont>
      <p:font typeface="Telegraf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B54"/>
    <a:srgbClr val="FEB300"/>
    <a:srgbClr val="FFA356"/>
    <a:srgbClr val="6AB741"/>
    <a:srgbClr val="C5CD71"/>
    <a:srgbClr val="CAD17B"/>
    <a:srgbClr val="F7C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022"/>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163 0,'272'0,"-686"0,393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251"/>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1 120,'426'0,"-415"0,-1-1,0 0,1-1,-1 0,0-1,18-7,57-32,-58 27,5 2,-27 12,0-1,0 1,0-1,0-1,-1 1,1-1,7-5,-12 8,0 0,0-1,0 1,1 0,-1 0,0 0,0-1,0 1,0 0,0 0,-1-1,1 1,0 0,0 0,0 0,0-1,0 1,0 0,0 0,0 0,0-1,-1 1,1 0,0 0,0 0,0 0,0-1,0 1,-1 0,1 0,0 0,0 0,0 0,-1 0,1-1,0 1,0 0,-1 0,1 0,0 0,0 0,0 0,-1 0,1 0,0 0,0 0,-1 0,1 0,0 0,0 0,0 0,-1 1,-14-3,-2 2,0 1,1 1,-1 1,0 0,1 1,-20 8,15-5,-1-1,-38 5,40-10</inkml:trace>
  <inkml:trace contextRef="#ctx0" brushRef="#br0" timeOffset="1">401 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810"/>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344 1,'-23'1,"0"2,0 0,0 1,-22 8,16-4,-45 6,41-12,-38-2,476 1,-180-3,-202 2,-4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9.637"/>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022"/>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163 0,'272'0,"-686"0,393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251"/>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1 120,'426'0,"-415"0,-1-1,0 0,1-1,-1 0,0-1,18-7,57-32,-58 27,5 2,-27 12,0-1,0 1,0-1,0-1,-1 1,1-1,7-5,-12 8,0 0,0-1,0 1,1 0,-1 0,0 0,0-1,0 1,0 0,0 0,-1-1,1 1,0 0,0 0,0 0,0-1,0 1,0 0,0 0,0 0,0-1,-1 1,1 0,0 0,0 0,0 0,0-1,0 1,-1 0,1 0,0 0,0 0,0 0,-1 0,1-1,0 1,0 0,-1 0,1 0,0 0,0 0,0 0,-1 0,1 0,0 0,0 0,-1 0,1 0,0 0,0 0,0 0,-1 1,-14-3,-2 2,0 1,1 1,-1 1,0 0,1 1,-20 8,15-5,-1-1,-38 5,40-10</inkml:trace>
  <inkml:trace contextRef="#ctx0" brushRef="#br0" timeOffset="1">401 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7.810"/>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344 1,'-23'1,"0"2,0 0,0 1,-22 8,16-4,-45 6,41-12,-38-2,476 1,-180-3,-202 2,-4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1T16:13:39.637"/>
    </inkml:context>
    <inkml:brush xml:id="br0">
      <inkml:brushProperty name="width" value="0.3" units="cm"/>
      <inkml:brushProperty name="height" value="0.6" units="cm"/>
      <inkml:brushProperty name="color" value="#FFACD5"/>
      <inkml:brushProperty name="tip" value="rectangle"/>
      <inkml:brushProperty name="rasterOp" value="maskPen"/>
      <inkml:brushProperty name="ignorePressure" value="1"/>
    </inkml:brush>
  </inkml:definitions>
  <inkml:trace contextRef="#ctx0" brushRef="#br0">0 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4.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jpeg"/><Relationship Id="rId17"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jpeg"/><Relationship Id="rId5" Type="http://schemas.openxmlformats.org/officeDocument/2006/relationships/image" Target="../media/image12.png"/><Relationship Id="rId15" Type="http://schemas.openxmlformats.org/officeDocument/2006/relationships/image" Target="../media/image22.jpe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jpe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jpeg"/><Relationship Id="rId22"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jpeg"/><Relationship Id="rId7" Type="http://schemas.openxmlformats.org/officeDocument/2006/relationships/image" Target="../media/image35.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jpe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png"/><Relationship Id="rId7" Type="http://schemas.openxmlformats.org/officeDocument/2006/relationships/image" Target="../media/image4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4.png"/><Relationship Id="rId7"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1.png"/><Relationship Id="rId3" Type="http://schemas.openxmlformats.org/officeDocument/2006/relationships/image" Target="../media/image4.png"/><Relationship Id="rId7" Type="http://schemas.openxmlformats.org/officeDocument/2006/relationships/image" Target="../media/image68.png"/><Relationship Id="rId12" Type="http://schemas.openxmlformats.org/officeDocument/2006/relationships/customXml" Target="../ink/ink2.xml"/><Relationship Id="rId17" Type="http://schemas.openxmlformats.org/officeDocument/2006/relationships/image" Target="../media/image73.png"/><Relationship Id="rId2" Type="http://schemas.openxmlformats.org/officeDocument/2006/relationships/image" Target="../media/image1.jpeg"/><Relationship Id="rId16" Type="http://schemas.openxmlformats.org/officeDocument/2006/relationships/customXml" Target="../ink/ink4.xml"/><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700.png"/><Relationship Id="rId5" Type="http://schemas.openxmlformats.org/officeDocument/2006/relationships/image" Target="../media/image66.png"/><Relationship Id="rId15" Type="http://schemas.openxmlformats.org/officeDocument/2006/relationships/image" Target="../media/image72.png"/><Relationship Id="rId10" Type="http://schemas.openxmlformats.org/officeDocument/2006/relationships/customXml" Target="../ink/ink1.xml"/><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customXml" Target="../ink/ink3.xml"/></Relationships>
</file>

<file path=ppt/slides/_rels/slide17.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79.png"/><Relationship Id="rId3" Type="http://schemas.openxmlformats.org/officeDocument/2006/relationships/image" Target="../media/image4.png"/><Relationship Id="rId7" Type="http://schemas.openxmlformats.org/officeDocument/2006/relationships/image" Target="../media/image75.png"/><Relationship Id="rId12" Type="http://schemas.openxmlformats.org/officeDocument/2006/relationships/image" Target="../media/image7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customXml" Target="../ink/ink6.xml"/><Relationship Id="rId11" Type="http://schemas.openxmlformats.org/officeDocument/2006/relationships/image" Target="../media/image77.png"/><Relationship Id="rId5" Type="http://schemas.openxmlformats.org/officeDocument/2006/relationships/image" Target="../media/image74.png"/><Relationship Id="rId15" Type="http://schemas.openxmlformats.org/officeDocument/2006/relationships/image" Target="../media/image81.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76.png"/><Relationship Id="rId14" Type="http://schemas.openxmlformats.org/officeDocument/2006/relationships/image" Target="../media/image80.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7000CF-A2EF-9C79-9002-B3EB37C2195C}"/>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5427ABE7-E433-61E5-3F79-95775CBD5301}"/>
              </a:ext>
            </a:extLst>
          </p:cNvPr>
          <p:cNvGrpSpPr/>
          <p:nvPr/>
        </p:nvGrpSpPr>
        <p:grpSpPr>
          <a:xfrm>
            <a:off x="0" y="1287781"/>
            <a:ext cx="18318125" cy="57019"/>
            <a:chOff x="0" y="0"/>
            <a:chExt cx="9185420" cy="169434"/>
          </a:xfrm>
          <a:solidFill>
            <a:schemeClr val="accent2">
              <a:lumMod val="60000"/>
              <a:lumOff val="40000"/>
            </a:schemeClr>
          </a:solidFill>
        </p:grpSpPr>
        <p:sp>
          <p:nvSpPr>
            <p:cNvPr id="5" name="Freeform 5">
              <a:extLst>
                <a:ext uri="{FF2B5EF4-FFF2-40B4-BE49-F238E27FC236}">
                  <a16:creationId xmlns:a16="http://schemas.microsoft.com/office/drawing/2014/main" id="{E2D7E95A-885F-1DF0-40D7-51E5DF7DD1BB}"/>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rgbClr val="FFCB54"/>
              </a:solidFill>
            </a:ln>
          </p:spPr>
          <p:txBody>
            <a:bodyPr/>
            <a:lstStyle/>
            <a:p>
              <a:endParaRPr lang="en-IN">
                <a:solidFill>
                  <a:schemeClr val="bg2"/>
                </a:solidFill>
                <a:highlight>
                  <a:srgbClr val="800000"/>
                </a:highlight>
              </a:endParaRPr>
            </a:p>
          </p:txBody>
        </p:sp>
      </p:grpSp>
      <p:sp>
        <p:nvSpPr>
          <p:cNvPr id="2" name="Freeform 5">
            <a:extLst>
              <a:ext uri="{FF2B5EF4-FFF2-40B4-BE49-F238E27FC236}">
                <a16:creationId xmlns:a16="http://schemas.microsoft.com/office/drawing/2014/main" id="{E479D6C9-42B3-4916-294E-F3DE43378591}"/>
              </a:ext>
            </a:extLst>
          </p:cNvPr>
          <p:cNvSpPr/>
          <p:nvPr/>
        </p:nvSpPr>
        <p:spPr>
          <a:xfrm>
            <a:off x="0"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dirty="0"/>
          </a:p>
        </p:txBody>
      </p:sp>
      <p:sp>
        <p:nvSpPr>
          <p:cNvPr id="3" name="TextBox 4"/>
          <p:cNvSpPr txBox="1"/>
          <p:nvPr/>
        </p:nvSpPr>
        <p:spPr>
          <a:xfrm>
            <a:off x="6629400" y="2687860"/>
            <a:ext cx="9742648" cy="1386342"/>
          </a:xfrm>
          <a:prstGeom prst="rect">
            <a:avLst/>
          </a:prstGeom>
        </p:spPr>
        <p:txBody>
          <a:bodyPr wrap="square" lIns="0" tIns="0" rIns="0" bIns="0" rtlCol="0" anchor="ctr">
            <a:spAutoFit/>
          </a:bodyPr>
          <a:lstStyle/>
          <a:p>
            <a:pPr algn="ctr">
              <a:lnSpc>
                <a:spcPts val="11423"/>
              </a:lnSpc>
            </a:pPr>
            <a:r>
              <a:rPr lang="en-US" sz="8800" b="1" dirty="0">
                <a:latin typeface="Abadi" panose="020B0604020104020204" pitchFamily="34" charset="0"/>
                <a:ea typeface="ADLaM Display" panose="020F0502020204030204" pitchFamily="2" charset="0"/>
                <a:cs typeface="Aparajita" panose="02020603050405020304" pitchFamily="18" charset="0"/>
                <a:sym typeface="Neue Machina Ultra-Bold"/>
              </a:rPr>
              <a:t>Internship Demo </a:t>
            </a:r>
          </a:p>
        </p:txBody>
      </p:sp>
      <p:pic>
        <p:nvPicPr>
          <p:cNvPr id="7" name="Picture 2" descr="logo">
            <a:extLst>
              <a:ext uri="{FF2B5EF4-FFF2-40B4-BE49-F238E27FC236}">
                <a16:creationId xmlns:a16="http://schemas.microsoft.com/office/drawing/2014/main" id="{A18A199D-47F2-36B0-40EE-1AA451CE1A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873F759-5C8C-8717-0237-CE794F84ADA8}"/>
              </a:ext>
            </a:extLst>
          </p:cNvPr>
          <p:cNvPicPr>
            <a:picLocks noChangeAspect="1"/>
          </p:cNvPicPr>
          <p:nvPr/>
        </p:nvPicPr>
        <p:blipFill>
          <a:blip r:embed="rId3">
            <a:duotone>
              <a:prstClr val="black"/>
              <a:schemeClr val="accent2">
                <a:tint val="45000"/>
                <a:satMod val="400000"/>
              </a:schemeClr>
            </a:duotone>
            <a:extLst>
              <a:ext uri="{BEBA8EAE-BF5A-486C-A8C5-ECC9F3942E4B}">
                <a14:imgProps xmlns:a14="http://schemas.microsoft.com/office/drawing/2010/main">
                  <a14:imgLayer r:embed="rId4">
                    <a14:imgEffect>
                      <a14:saturation sat="0"/>
                    </a14:imgEffect>
                  </a14:imgLayer>
                </a14:imgProps>
              </a:ext>
            </a:extLst>
          </a:blip>
          <a:srcRect b="88333"/>
          <a:stretch>
            <a:fillRect/>
          </a:stretch>
        </p:blipFill>
        <p:spPr>
          <a:xfrm>
            <a:off x="1" y="0"/>
            <a:ext cx="14020800" cy="1295400"/>
          </a:xfrm>
          <a:prstGeom prst="rect">
            <a:avLst/>
          </a:prstGeom>
        </p:spPr>
      </p:pic>
      <p:pic>
        <p:nvPicPr>
          <p:cNvPr id="9" name="Picture 8">
            <a:extLst>
              <a:ext uri="{FF2B5EF4-FFF2-40B4-BE49-F238E27FC236}">
                <a16:creationId xmlns:a16="http://schemas.microsoft.com/office/drawing/2014/main" id="{70E9153F-2E03-A39D-ED22-A7F8CF907416}"/>
              </a:ext>
            </a:extLst>
          </p:cNvPr>
          <p:cNvPicPr>
            <a:picLocks noChangeAspect="1"/>
          </p:cNvPicPr>
          <p:nvPr/>
        </p:nvPicPr>
        <p:blipFill>
          <a:blip r:embed="rId5"/>
          <a:stretch>
            <a:fillRect/>
          </a:stretch>
        </p:blipFill>
        <p:spPr>
          <a:xfrm>
            <a:off x="762000" y="1463067"/>
            <a:ext cx="5105399" cy="4444115"/>
          </a:xfrm>
          <a:prstGeom prst="rect">
            <a:avLst/>
          </a:prstGeom>
          <a:ln>
            <a:noFill/>
          </a:ln>
          <a:effectLst>
            <a:softEdge rad="112500"/>
          </a:effectLst>
        </p:spPr>
      </p:pic>
      <p:sp>
        <p:nvSpPr>
          <p:cNvPr id="10" name="TextBox 3">
            <a:extLst>
              <a:ext uri="{FF2B5EF4-FFF2-40B4-BE49-F238E27FC236}">
                <a16:creationId xmlns:a16="http://schemas.microsoft.com/office/drawing/2014/main" id="{6A5CB520-7E9B-7674-14FA-13171C718173}"/>
              </a:ext>
            </a:extLst>
          </p:cNvPr>
          <p:cNvSpPr txBox="1"/>
          <p:nvPr/>
        </p:nvSpPr>
        <p:spPr>
          <a:xfrm>
            <a:off x="1143000" y="6708098"/>
            <a:ext cx="8957747" cy="2125582"/>
          </a:xfrm>
          <a:prstGeom prst="rect">
            <a:avLst/>
          </a:prstGeom>
        </p:spPr>
        <p:txBody>
          <a:bodyPr lIns="0" tIns="0" rIns="0" bIns="0" rtlCol="0" anchor="t">
            <a:spAutoFit/>
          </a:bodyPr>
          <a:lstStyle/>
          <a:p>
            <a:pPr algn="l">
              <a:lnSpc>
                <a:spcPts val="4070"/>
              </a:lnSpc>
            </a:pPr>
            <a:r>
              <a:rPr lang="en-US" sz="4000" b="1" dirty="0">
                <a:solidFill>
                  <a:schemeClr val="tx2"/>
                </a:solidFill>
                <a:latin typeface="Aparajita" panose="02020603050405020304" pitchFamily="18" charset="0"/>
                <a:ea typeface="Open Sauce Bold"/>
                <a:cs typeface="Aparajita" panose="02020603050405020304" pitchFamily="18" charset="0"/>
                <a:sym typeface="Open Sauce Bold"/>
              </a:rPr>
              <a:t>Name:</a:t>
            </a:r>
            <a:r>
              <a:rPr lang="en-US" sz="4000" dirty="0">
                <a:solidFill>
                  <a:schemeClr val="tx2"/>
                </a:solidFill>
                <a:latin typeface="Aparajita" panose="02020603050405020304" pitchFamily="18" charset="0"/>
                <a:ea typeface="Open Sauce"/>
                <a:cs typeface="Aparajita" panose="02020603050405020304" pitchFamily="18" charset="0"/>
                <a:sym typeface="Open Sauce"/>
              </a:rPr>
              <a:t> Vedika Vijay Lohiya</a:t>
            </a:r>
          </a:p>
          <a:p>
            <a:pPr algn="l">
              <a:lnSpc>
                <a:spcPts val="4070"/>
              </a:lnSpc>
            </a:pPr>
            <a:r>
              <a:rPr lang="en-US" sz="4000" b="1" dirty="0">
                <a:solidFill>
                  <a:schemeClr val="tx2"/>
                </a:solidFill>
                <a:latin typeface="Aparajita" panose="02020603050405020304" pitchFamily="18" charset="0"/>
                <a:ea typeface="Open Sauce Bold"/>
                <a:cs typeface="Aparajita" panose="02020603050405020304" pitchFamily="18" charset="0"/>
                <a:sym typeface="Open Sauce Bold"/>
              </a:rPr>
              <a:t>College:</a:t>
            </a:r>
            <a:r>
              <a:rPr lang="en-US" sz="4000" dirty="0">
                <a:solidFill>
                  <a:schemeClr val="tx2"/>
                </a:solidFill>
                <a:latin typeface="Aparajita" panose="02020603050405020304" pitchFamily="18" charset="0"/>
                <a:ea typeface="Open Sauce"/>
                <a:cs typeface="Aparajita" panose="02020603050405020304" pitchFamily="18" charset="0"/>
                <a:sym typeface="Open Sauce"/>
              </a:rPr>
              <a:t> MGM’s College of Engineering, Nanded</a:t>
            </a:r>
          </a:p>
          <a:p>
            <a:pPr algn="l">
              <a:lnSpc>
                <a:spcPts val="4070"/>
              </a:lnSpc>
            </a:pPr>
            <a:r>
              <a:rPr lang="en-US" sz="4000" b="1" dirty="0">
                <a:solidFill>
                  <a:schemeClr val="tx2"/>
                </a:solidFill>
                <a:latin typeface="Aparajita" panose="02020603050405020304" pitchFamily="18" charset="0"/>
                <a:ea typeface="Open Sauce Bold"/>
                <a:cs typeface="Aparajita" panose="02020603050405020304" pitchFamily="18" charset="0"/>
                <a:sym typeface="Open Sauce Bold"/>
              </a:rPr>
              <a:t>Company:</a:t>
            </a:r>
            <a:r>
              <a:rPr lang="en-US" sz="4000" dirty="0">
                <a:solidFill>
                  <a:schemeClr val="tx2"/>
                </a:solidFill>
                <a:latin typeface="Aparajita" panose="02020603050405020304" pitchFamily="18" charset="0"/>
                <a:ea typeface="Open Sauce"/>
                <a:cs typeface="Aparajita" panose="02020603050405020304" pitchFamily="18" charset="0"/>
                <a:sym typeface="Open Sauce"/>
              </a:rPr>
              <a:t> Synergy Global IT Solutions</a:t>
            </a:r>
          </a:p>
          <a:p>
            <a:pPr algn="l">
              <a:lnSpc>
                <a:spcPts val="4070"/>
              </a:lnSpc>
            </a:pPr>
            <a:r>
              <a:rPr lang="en-US" sz="4000" b="1" dirty="0">
                <a:solidFill>
                  <a:schemeClr val="tx2"/>
                </a:solidFill>
                <a:latin typeface="Aparajita" panose="02020603050405020304" pitchFamily="18" charset="0"/>
                <a:ea typeface="Open Sauce Bold"/>
                <a:cs typeface="Aparajita" panose="02020603050405020304" pitchFamily="18" charset="0"/>
                <a:sym typeface="Open Sauce Bold"/>
              </a:rPr>
              <a:t>Role:</a:t>
            </a:r>
            <a:r>
              <a:rPr lang="en-US" sz="4000" dirty="0">
                <a:solidFill>
                  <a:schemeClr val="tx2"/>
                </a:solidFill>
                <a:latin typeface="Aparajita" panose="02020603050405020304" pitchFamily="18" charset="0"/>
                <a:ea typeface="Open Sauce"/>
                <a:cs typeface="Aparajita" panose="02020603050405020304" pitchFamily="18" charset="0"/>
                <a:sym typeface="Open Sauce"/>
              </a:rPr>
              <a:t> Azure Data Engineer </a:t>
            </a:r>
          </a:p>
        </p:txBody>
      </p:sp>
      <p:sp>
        <p:nvSpPr>
          <p:cNvPr id="11" name="TextBox 7">
            <a:extLst>
              <a:ext uri="{FF2B5EF4-FFF2-40B4-BE49-F238E27FC236}">
                <a16:creationId xmlns:a16="http://schemas.microsoft.com/office/drawing/2014/main" id="{C9BC0D4F-80DC-4292-9980-FD68D521F1FC}"/>
              </a:ext>
            </a:extLst>
          </p:cNvPr>
          <p:cNvSpPr txBox="1"/>
          <p:nvPr/>
        </p:nvSpPr>
        <p:spPr>
          <a:xfrm>
            <a:off x="13335000" y="7816802"/>
            <a:ext cx="3276600" cy="496290"/>
          </a:xfrm>
          <a:prstGeom prst="rect">
            <a:avLst/>
          </a:prstGeom>
        </p:spPr>
        <p:txBody>
          <a:bodyPr wrap="square" lIns="0" tIns="0" rIns="0" bIns="0" rtlCol="0" anchor="t">
            <a:spAutoFit/>
          </a:bodyPr>
          <a:lstStyle/>
          <a:p>
            <a:pPr marL="0" lvl="0" indent="0" algn="l">
              <a:lnSpc>
                <a:spcPts val="3379"/>
              </a:lnSpc>
              <a:spcBef>
                <a:spcPct val="0"/>
              </a:spcBef>
            </a:pPr>
            <a:r>
              <a:rPr lang="en-US" sz="4400" b="1" dirty="0">
                <a:solidFill>
                  <a:schemeClr val="tx2"/>
                </a:solidFill>
                <a:latin typeface="Aparajita" panose="02020603050405020304" pitchFamily="18" charset="0"/>
                <a:ea typeface="Telegraf Bold"/>
                <a:cs typeface="Aparajita" panose="02020603050405020304" pitchFamily="18" charset="0"/>
                <a:sym typeface="Telegraf Bold"/>
              </a:rPr>
              <a:t>Presented To:</a:t>
            </a:r>
          </a:p>
        </p:txBody>
      </p:sp>
      <p:sp>
        <p:nvSpPr>
          <p:cNvPr id="12" name="TextBox 8">
            <a:extLst>
              <a:ext uri="{FF2B5EF4-FFF2-40B4-BE49-F238E27FC236}">
                <a16:creationId xmlns:a16="http://schemas.microsoft.com/office/drawing/2014/main" id="{327003CE-A7DD-EA23-95F0-FEBD35B5ED36}"/>
              </a:ext>
            </a:extLst>
          </p:cNvPr>
          <p:cNvSpPr txBox="1"/>
          <p:nvPr/>
        </p:nvSpPr>
        <p:spPr>
          <a:xfrm>
            <a:off x="13030200" y="8425253"/>
            <a:ext cx="4658438" cy="452047"/>
          </a:xfrm>
          <a:prstGeom prst="rect">
            <a:avLst/>
          </a:prstGeom>
        </p:spPr>
        <p:txBody>
          <a:bodyPr wrap="square" lIns="0" tIns="0" rIns="0" bIns="0" rtlCol="0" anchor="ctr">
            <a:spAutoFit/>
          </a:bodyPr>
          <a:lstStyle/>
          <a:p>
            <a:pPr marL="0" lvl="0" indent="0" algn="l">
              <a:lnSpc>
                <a:spcPts val="3119"/>
              </a:lnSpc>
              <a:spcBef>
                <a:spcPct val="0"/>
              </a:spcBef>
            </a:pPr>
            <a:r>
              <a:rPr lang="en-US" sz="4000" dirty="0">
                <a:solidFill>
                  <a:schemeClr val="tx2"/>
                </a:solidFill>
                <a:latin typeface="Aparajita" panose="02020603050405020304" pitchFamily="18" charset="0"/>
                <a:ea typeface="Telegraf"/>
                <a:cs typeface="Aparajita" panose="02020603050405020304" pitchFamily="18" charset="0"/>
                <a:sym typeface="Telegraf"/>
              </a:rPr>
              <a:t>Asst. Prof Pankaj P. Pawar</a:t>
            </a:r>
          </a:p>
        </p:txBody>
      </p:sp>
    </p:spTree>
    <p:extLst>
      <p:ext uri="{BB962C8B-B14F-4D97-AF65-F5344CB8AC3E}">
        <p14:creationId xmlns:p14="http://schemas.microsoft.com/office/powerpoint/2010/main" val="39040540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211B31-32ED-79F6-1580-D74DD1A1A37B}"/>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82C8324F-41B7-DA33-42D6-F304E0B6126F}"/>
              </a:ext>
            </a:extLst>
          </p:cNvPr>
          <p:cNvGrpSpPr/>
          <p:nvPr/>
        </p:nvGrpSpPr>
        <p:grpSpPr>
          <a:xfrm>
            <a:off x="0" y="1287781"/>
            <a:ext cx="18318125" cy="57019"/>
            <a:chOff x="0" y="0"/>
            <a:chExt cx="9185420" cy="169434"/>
          </a:xfrm>
          <a:solidFill>
            <a:schemeClr val="accent2">
              <a:lumMod val="60000"/>
              <a:lumOff val="40000"/>
            </a:schemeClr>
          </a:solidFill>
        </p:grpSpPr>
        <p:sp>
          <p:nvSpPr>
            <p:cNvPr id="5" name="Freeform 5">
              <a:extLst>
                <a:ext uri="{FF2B5EF4-FFF2-40B4-BE49-F238E27FC236}">
                  <a16:creationId xmlns:a16="http://schemas.microsoft.com/office/drawing/2014/main" id="{246DD1C9-2629-D733-A936-A6535FB525AD}"/>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rgbClr val="FFCB54"/>
              </a:solidFill>
            </a:ln>
          </p:spPr>
          <p:txBody>
            <a:bodyPr/>
            <a:lstStyle/>
            <a:p>
              <a:endParaRPr lang="en-IN"/>
            </a:p>
          </p:txBody>
        </p:sp>
      </p:grpSp>
      <p:sp>
        <p:nvSpPr>
          <p:cNvPr id="2" name="Freeform 5">
            <a:extLst>
              <a:ext uri="{FF2B5EF4-FFF2-40B4-BE49-F238E27FC236}">
                <a16:creationId xmlns:a16="http://schemas.microsoft.com/office/drawing/2014/main" id="{C21A4BE6-17FD-2D75-4A85-B19671BC187B}"/>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7" name="Picture 2" descr="logo">
            <a:extLst>
              <a:ext uri="{FF2B5EF4-FFF2-40B4-BE49-F238E27FC236}">
                <a16:creationId xmlns:a16="http://schemas.microsoft.com/office/drawing/2014/main" id="{DA22FA86-59A8-8F9D-F349-E4E526C671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6286AFB-5014-DCAD-F017-CC17E7306811}"/>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15" name="TextBox 4">
            <a:extLst>
              <a:ext uri="{FF2B5EF4-FFF2-40B4-BE49-F238E27FC236}">
                <a16:creationId xmlns:a16="http://schemas.microsoft.com/office/drawing/2014/main" id="{6336FB38-EE31-EBF0-FF78-F3B55ADF2530}"/>
              </a:ext>
            </a:extLst>
          </p:cNvPr>
          <p:cNvSpPr txBox="1"/>
          <p:nvPr/>
        </p:nvSpPr>
        <p:spPr>
          <a:xfrm>
            <a:off x="438026" y="-149496"/>
            <a:ext cx="7239000" cy="1465786"/>
          </a:xfrm>
          <a:prstGeom prst="rect">
            <a:avLst/>
          </a:prstGeom>
        </p:spPr>
        <p:txBody>
          <a:bodyPr wrap="square" lIns="0" tIns="0" rIns="0" bIns="0" rtlCol="0" anchor="ctr">
            <a:spAutoFit/>
          </a:bodyPr>
          <a:lstStyle/>
          <a:p>
            <a:pPr>
              <a:lnSpc>
                <a:spcPts val="11423"/>
              </a:lnSpc>
            </a:pPr>
            <a:r>
              <a:rPr lang="en-US" sz="8000" b="1" dirty="0">
                <a:latin typeface="Aparajita" panose="02020603050405020304" pitchFamily="18" charset="0"/>
                <a:ea typeface="ADLaM Display" panose="020F0502020204030204" pitchFamily="2" charset="0"/>
                <a:cs typeface="Aparajita" panose="02020603050405020304" pitchFamily="18" charset="0"/>
                <a:sym typeface="Neue Machina Ultra-Bold"/>
              </a:rPr>
              <a:t>Company Overview</a:t>
            </a:r>
          </a:p>
        </p:txBody>
      </p:sp>
      <p:sp>
        <p:nvSpPr>
          <p:cNvPr id="24" name="TextBox 5">
            <a:extLst>
              <a:ext uri="{FF2B5EF4-FFF2-40B4-BE49-F238E27FC236}">
                <a16:creationId xmlns:a16="http://schemas.microsoft.com/office/drawing/2014/main" id="{0D4DEFC9-40F0-B3DB-F444-7F9ACF218261}"/>
              </a:ext>
            </a:extLst>
          </p:cNvPr>
          <p:cNvSpPr txBox="1"/>
          <p:nvPr/>
        </p:nvSpPr>
        <p:spPr>
          <a:xfrm>
            <a:off x="0" y="5231618"/>
            <a:ext cx="18074436" cy="3877985"/>
          </a:xfrm>
          <a:prstGeom prst="rect">
            <a:avLst/>
          </a:prstGeom>
        </p:spPr>
        <p:txBody>
          <a:bodyPr wrap="square" lIns="0" tIns="0" rIns="0" bIns="0" rtlCol="0" anchor="ctr">
            <a:spAutoFit/>
          </a:bodyPr>
          <a:lstStyle>
            <a:defPPr>
              <a:defRPr lang="en-US"/>
            </a:defPPr>
            <a:lvl1pPr marL="440967" indent="-571500" algn="just">
              <a:lnSpc>
                <a:spcPts val="4539"/>
              </a:lnSpc>
              <a:spcAft>
                <a:spcPts val="1200"/>
              </a:spcAft>
              <a:buFont typeface="Wingdings" panose="05000000000000000000" pitchFamily="2" charset="2"/>
              <a:buChar char="v"/>
              <a:defRPr sz="4000">
                <a:solidFill>
                  <a:srgbClr val="010101"/>
                </a:solidFill>
                <a:latin typeface="Aparajita" panose="02020603050405020304" pitchFamily="18" charset="0"/>
                <a:ea typeface="Open Sauce"/>
                <a:cs typeface="Aparajita" panose="02020603050405020304" pitchFamily="18" charset="0"/>
              </a:defRPr>
            </a:lvl1pPr>
          </a:lstStyle>
          <a:p>
            <a:pPr marL="1028700" lvl="1" indent="-571500">
              <a:buFont typeface="Wingdings" panose="05000000000000000000" pitchFamily="2" charset="2"/>
              <a:buChar char="ü"/>
            </a:pP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Synergy Global IT Solutions </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is an IT service-based company providing tailored technology solutions since 2020.</a:t>
            </a:r>
          </a:p>
          <a:p>
            <a:pPr marL="1028700" lvl="1" indent="-571500">
              <a:buFont typeface="Wingdings" panose="05000000000000000000" pitchFamily="2" charset="2"/>
              <a:buChar char="ü"/>
            </a:pPr>
            <a:r>
              <a:rPr lang="en-US" sz="3600" dirty="0">
                <a:solidFill>
                  <a:schemeClr val="tx2">
                    <a:lumMod val="75000"/>
                  </a:schemeClr>
                </a:solidFill>
                <a:latin typeface="Aparajita" panose="02020603050405020304" pitchFamily="18" charset="0"/>
                <a:cs typeface="Aparajita" panose="02020603050405020304" pitchFamily="18" charset="0"/>
                <a:sym typeface="Open Sauce"/>
              </a:rPr>
              <a:t>Located at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Hyderabad &amp; USA with approx. 130 plus associates</a:t>
            </a:r>
          </a:p>
          <a:p>
            <a:pPr marL="1028700" lvl="1" indent="-571500">
              <a:buFont typeface="Wingdings" panose="05000000000000000000" pitchFamily="2" charset="2"/>
              <a:buChar char="ü"/>
            </a:pPr>
            <a:r>
              <a:rPr lang="en-US" sz="3600" dirty="0">
                <a:solidFill>
                  <a:schemeClr val="tx2">
                    <a:lumMod val="75000"/>
                  </a:schemeClr>
                </a:solidFill>
                <a:latin typeface="Aparajita" panose="02020603050405020304" pitchFamily="18" charset="0"/>
                <a:cs typeface="Aparajita" panose="02020603050405020304" pitchFamily="18" charset="0"/>
                <a:sym typeface="Open Sauce"/>
              </a:rPr>
              <a:t>The company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delivers end-to-end project solutions </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from concept to deployment.</a:t>
            </a:r>
          </a:p>
          <a:p>
            <a:pPr marL="1028700" lvl="1" indent="-571500">
              <a:buFont typeface="Wingdings" panose="05000000000000000000" pitchFamily="2" charset="2"/>
              <a:buChar char="ü"/>
            </a:pPr>
            <a:r>
              <a:rPr lang="en-US" sz="3600" dirty="0">
                <a:solidFill>
                  <a:schemeClr val="tx2">
                    <a:lumMod val="75000"/>
                  </a:schemeClr>
                </a:solidFill>
                <a:latin typeface="Aparajita" panose="02020603050405020304" pitchFamily="18" charset="0"/>
                <a:cs typeface="Aparajita" panose="02020603050405020304" pitchFamily="18" charset="0"/>
                <a:sym typeface="Open Sauce"/>
              </a:rPr>
              <a:t>It follows structured approaches such as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Build–Operate–Transfer </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(BOT) and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Product-Oriented Delivery </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(POD) and also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supports GCC establishments</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a:t>
            </a:r>
          </a:p>
          <a:p>
            <a:pPr marL="1028700" lvl="1" indent="-571500">
              <a:buFont typeface="Wingdings" panose="05000000000000000000" pitchFamily="2" charset="2"/>
              <a:buChar char="ü"/>
            </a:pPr>
            <a:r>
              <a:rPr lang="en-US" sz="3600" dirty="0">
                <a:solidFill>
                  <a:schemeClr val="tx2">
                    <a:lumMod val="75000"/>
                  </a:schemeClr>
                </a:solidFill>
                <a:latin typeface="Aparajita" panose="02020603050405020304" pitchFamily="18" charset="0"/>
                <a:cs typeface="Aparajita" panose="02020603050405020304" pitchFamily="18" charset="0"/>
                <a:sym typeface="Open Sauce"/>
              </a:rPr>
              <a:t>It works on </a:t>
            </a:r>
            <a:r>
              <a:rPr lang="en-US" sz="3600" b="1" dirty="0">
                <a:solidFill>
                  <a:schemeClr val="tx2">
                    <a:lumMod val="75000"/>
                  </a:schemeClr>
                </a:solidFill>
                <a:latin typeface="Aparajita" panose="02020603050405020304" pitchFamily="18" charset="0"/>
                <a:cs typeface="Aparajita" panose="02020603050405020304" pitchFamily="18" charset="0"/>
                <a:sym typeface="Open Sauce"/>
              </a:rPr>
              <a:t>Cloud computing, AI/ML, data analytics, and SAP enterprise applications</a:t>
            </a:r>
            <a:r>
              <a:rPr lang="en-US" sz="3600" dirty="0">
                <a:solidFill>
                  <a:schemeClr val="tx2">
                    <a:lumMod val="75000"/>
                  </a:schemeClr>
                </a:solidFill>
                <a:latin typeface="Aparajita" panose="02020603050405020304" pitchFamily="18" charset="0"/>
                <a:cs typeface="Aparajita" panose="02020603050405020304" pitchFamily="18" charset="0"/>
                <a:sym typeface="Open Sauce"/>
              </a:rPr>
              <a:t>.</a:t>
            </a:r>
          </a:p>
          <a:p>
            <a:pPr marL="1028700" lvl="1" indent="-571500">
              <a:buFont typeface="Wingdings" panose="05000000000000000000" pitchFamily="2" charset="2"/>
              <a:buChar char="ü"/>
            </a:pPr>
            <a:r>
              <a:rPr lang="en-US" sz="3600" dirty="0">
                <a:solidFill>
                  <a:schemeClr val="tx2">
                    <a:lumMod val="75000"/>
                  </a:schemeClr>
                </a:solidFill>
                <a:latin typeface="Aparajita" panose="02020603050405020304" pitchFamily="18" charset="0"/>
                <a:cs typeface="Aparajita" panose="02020603050405020304" pitchFamily="18" charset="0"/>
                <a:sym typeface="Open Sauce"/>
              </a:rPr>
              <a:t>The company focuses on understanding client requirements and delivering scalable solutions.</a:t>
            </a:r>
          </a:p>
        </p:txBody>
      </p:sp>
      <p:pic>
        <p:nvPicPr>
          <p:cNvPr id="4100" name="Picture 4" descr="Profile Special Lineal color icon | Freepik">
            <a:extLst>
              <a:ext uri="{FF2B5EF4-FFF2-40B4-BE49-F238E27FC236}">
                <a16:creationId xmlns:a16="http://schemas.microsoft.com/office/drawing/2014/main" id="{AECEC452-FD73-9611-8ACD-AD0DC608F7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7062" y="1457812"/>
            <a:ext cx="3371974" cy="337197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Company Icon Vector Art, Icons, and ...">
            <a:extLst>
              <a:ext uri="{FF2B5EF4-FFF2-40B4-BE49-F238E27FC236}">
                <a16:creationId xmlns:a16="http://schemas.microsoft.com/office/drawing/2014/main" id="{E023CD8C-9906-2DC1-7B2E-B11C33573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9036" y="1495912"/>
            <a:ext cx="3124201" cy="3276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7283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5F45E1-6D65-B4EE-99EB-693DE60956D8}"/>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ECA8D301-88C4-262F-E0C3-743CF4F0893D}"/>
              </a:ext>
            </a:extLst>
          </p:cNvPr>
          <p:cNvGrpSpPr/>
          <p:nvPr/>
        </p:nvGrpSpPr>
        <p:grpSpPr>
          <a:xfrm>
            <a:off x="0" y="1287781"/>
            <a:ext cx="18318125" cy="57019"/>
            <a:chOff x="0" y="0"/>
            <a:chExt cx="9185420" cy="169434"/>
          </a:xfrm>
          <a:solidFill>
            <a:schemeClr val="accent2">
              <a:lumMod val="60000"/>
              <a:lumOff val="40000"/>
            </a:schemeClr>
          </a:solidFill>
        </p:grpSpPr>
        <p:sp>
          <p:nvSpPr>
            <p:cNvPr id="5" name="Freeform 5">
              <a:extLst>
                <a:ext uri="{FF2B5EF4-FFF2-40B4-BE49-F238E27FC236}">
                  <a16:creationId xmlns:a16="http://schemas.microsoft.com/office/drawing/2014/main" id="{E7870FF1-19E7-F593-D972-3C2FCB0AA4CE}"/>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rgbClr val="FFCB54"/>
              </a:solidFill>
            </a:ln>
          </p:spPr>
          <p:txBody>
            <a:bodyPr/>
            <a:lstStyle/>
            <a:p>
              <a:endParaRPr lang="en-IN"/>
            </a:p>
          </p:txBody>
        </p:sp>
      </p:grpSp>
      <p:sp>
        <p:nvSpPr>
          <p:cNvPr id="2" name="Freeform 5">
            <a:extLst>
              <a:ext uri="{FF2B5EF4-FFF2-40B4-BE49-F238E27FC236}">
                <a16:creationId xmlns:a16="http://schemas.microsoft.com/office/drawing/2014/main" id="{C0279391-19BD-4BFF-3892-33B7DC933179}"/>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7" name="Picture 2" descr="logo">
            <a:extLst>
              <a:ext uri="{FF2B5EF4-FFF2-40B4-BE49-F238E27FC236}">
                <a16:creationId xmlns:a16="http://schemas.microsoft.com/office/drawing/2014/main" id="{0C55D3B1-F0BC-06D3-0E78-9DCD32442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673787D-501C-40E1-891F-8C5254BAC63F}"/>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15" name="TextBox 4">
            <a:extLst>
              <a:ext uri="{FF2B5EF4-FFF2-40B4-BE49-F238E27FC236}">
                <a16:creationId xmlns:a16="http://schemas.microsoft.com/office/drawing/2014/main" id="{1BDE2208-1D7B-121B-989E-B471BDA52AA3}"/>
              </a:ext>
            </a:extLst>
          </p:cNvPr>
          <p:cNvSpPr txBox="1"/>
          <p:nvPr/>
        </p:nvSpPr>
        <p:spPr>
          <a:xfrm>
            <a:off x="438026" y="-147572"/>
            <a:ext cx="8324974" cy="1461939"/>
          </a:xfrm>
          <a:prstGeom prst="rect">
            <a:avLst/>
          </a:prstGeom>
        </p:spPr>
        <p:txBody>
          <a:bodyPr wrap="square" lIns="0" tIns="0" rIns="0" bIns="0" rtlCol="0" anchor="ctr">
            <a:spAutoFit/>
          </a:bodyPr>
          <a:lstStyle/>
          <a:p>
            <a:pPr>
              <a:lnSpc>
                <a:spcPts val="11423"/>
              </a:lnSpc>
            </a:pPr>
            <a:r>
              <a:rPr lang="en-US" sz="8000" b="1" dirty="0">
                <a:latin typeface="Aparajita" panose="02020603050405020304" pitchFamily="18" charset="0"/>
                <a:ea typeface="ADLaM Display" panose="020F0502020204030204" pitchFamily="2" charset="0"/>
                <a:cs typeface="Aparajita" panose="02020603050405020304" pitchFamily="18" charset="0"/>
                <a:sym typeface="Neue Machina Ultra-Bold"/>
              </a:rPr>
              <a:t>Technology Expertise</a:t>
            </a:r>
          </a:p>
        </p:txBody>
      </p:sp>
      <p:sp>
        <p:nvSpPr>
          <p:cNvPr id="14" name="Freeform 14">
            <a:extLst>
              <a:ext uri="{FF2B5EF4-FFF2-40B4-BE49-F238E27FC236}">
                <a16:creationId xmlns:a16="http://schemas.microsoft.com/office/drawing/2014/main" id="{4FC06876-8951-D8DE-FB2C-3B1E50CD059F}"/>
              </a:ext>
            </a:extLst>
          </p:cNvPr>
          <p:cNvSpPr/>
          <p:nvPr/>
        </p:nvSpPr>
        <p:spPr>
          <a:xfrm>
            <a:off x="993817" y="5332240"/>
            <a:ext cx="16417883" cy="3626458"/>
          </a:xfrm>
          <a:custGeom>
            <a:avLst/>
            <a:gdLst/>
            <a:ahLst/>
            <a:cxnLst/>
            <a:rect l="l" t="t" r="r" b="b"/>
            <a:pathLst>
              <a:path w="16417883" h="3626458">
                <a:moveTo>
                  <a:pt x="0" y="0"/>
                </a:moveTo>
                <a:lnTo>
                  <a:pt x="16417883" y="0"/>
                </a:lnTo>
                <a:lnTo>
                  <a:pt x="16417883" y="3626458"/>
                </a:lnTo>
                <a:lnTo>
                  <a:pt x="0" y="3626458"/>
                </a:lnTo>
                <a:lnTo>
                  <a:pt x="0" y="0"/>
                </a:lnTo>
                <a:close/>
              </a:path>
            </a:pathLst>
          </a:custGeom>
          <a:blipFill>
            <a:blip r:embed="rId4"/>
            <a:stretch>
              <a:fillRect t="-97322" b="-2031"/>
            </a:stretch>
          </a:blipFill>
        </p:spPr>
        <p:txBody>
          <a:bodyPr/>
          <a:lstStyle/>
          <a:p>
            <a:endParaRPr lang="en-IN"/>
          </a:p>
        </p:txBody>
      </p:sp>
      <p:sp>
        <p:nvSpPr>
          <p:cNvPr id="16" name="Freeform 16">
            <a:extLst>
              <a:ext uri="{FF2B5EF4-FFF2-40B4-BE49-F238E27FC236}">
                <a16:creationId xmlns:a16="http://schemas.microsoft.com/office/drawing/2014/main" id="{3D1152F3-08A6-B1C2-33E9-34DCCC07DDDC}"/>
              </a:ext>
            </a:extLst>
          </p:cNvPr>
          <p:cNvSpPr/>
          <p:nvPr/>
        </p:nvSpPr>
        <p:spPr>
          <a:xfrm>
            <a:off x="876300" y="1842569"/>
            <a:ext cx="3433112" cy="3659970"/>
          </a:xfrm>
          <a:custGeom>
            <a:avLst/>
            <a:gdLst/>
            <a:ahLst/>
            <a:cxnLst/>
            <a:rect l="l" t="t" r="r" b="b"/>
            <a:pathLst>
              <a:path w="3433112" h="3659970">
                <a:moveTo>
                  <a:pt x="0" y="0"/>
                </a:moveTo>
                <a:lnTo>
                  <a:pt x="3433113" y="0"/>
                </a:lnTo>
                <a:lnTo>
                  <a:pt x="3433113" y="3659969"/>
                </a:lnTo>
                <a:lnTo>
                  <a:pt x="0" y="3659969"/>
                </a:lnTo>
                <a:lnTo>
                  <a:pt x="0" y="0"/>
                </a:lnTo>
                <a:close/>
              </a:path>
            </a:pathLst>
          </a:custGeom>
          <a:blipFill>
            <a:blip r:embed="rId5"/>
            <a:stretch>
              <a:fillRect/>
            </a:stretch>
          </a:blipFill>
        </p:spPr>
        <p:txBody>
          <a:bodyPr/>
          <a:lstStyle/>
          <a:p>
            <a:endParaRPr lang="en-IN"/>
          </a:p>
        </p:txBody>
      </p:sp>
      <p:sp>
        <p:nvSpPr>
          <p:cNvPr id="17" name="Freeform 17">
            <a:extLst>
              <a:ext uri="{FF2B5EF4-FFF2-40B4-BE49-F238E27FC236}">
                <a16:creationId xmlns:a16="http://schemas.microsoft.com/office/drawing/2014/main" id="{EBFC2654-B9B5-DB35-B1E0-019BCA8A2588}"/>
              </a:ext>
            </a:extLst>
          </p:cNvPr>
          <p:cNvSpPr/>
          <p:nvPr/>
        </p:nvSpPr>
        <p:spPr>
          <a:xfrm>
            <a:off x="2971800" y="6673978"/>
            <a:ext cx="1072493" cy="524181"/>
          </a:xfrm>
          <a:custGeom>
            <a:avLst/>
            <a:gdLst/>
            <a:ahLst/>
            <a:cxnLst/>
            <a:rect l="l" t="t" r="r" b="b"/>
            <a:pathLst>
              <a:path w="1072493" h="524181">
                <a:moveTo>
                  <a:pt x="0" y="0"/>
                </a:moveTo>
                <a:lnTo>
                  <a:pt x="1072493" y="0"/>
                </a:lnTo>
                <a:lnTo>
                  <a:pt x="1072493" y="524181"/>
                </a:lnTo>
                <a:lnTo>
                  <a:pt x="0" y="5241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2" name="TextBox 22">
            <a:extLst>
              <a:ext uri="{FF2B5EF4-FFF2-40B4-BE49-F238E27FC236}">
                <a16:creationId xmlns:a16="http://schemas.microsoft.com/office/drawing/2014/main" id="{41D04454-9509-6A50-101B-48190EE4AF5B}"/>
              </a:ext>
            </a:extLst>
          </p:cNvPr>
          <p:cNvSpPr txBox="1"/>
          <p:nvPr/>
        </p:nvSpPr>
        <p:spPr>
          <a:xfrm>
            <a:off x="4787397" y="1914076"/>
            <a:ext cx="9352133" cy="3650358"/>
          </a:xfrm>
          <a:prstGeom prst="rect">
            <a:avLst/>
          </a:prstGeom>
        </p:spPr>
        <p:txBody>
          <a:bodyPr wrap="square" lIns="0" tIns="0" rIns="0" bIns="0" rtlCol="0" anchor="t">
            <a:spAutoFit/>
          </a:bodyPr>
          <a:lstStyle/>
          <a:p>
            <a:pPr algn="l">
              <a:lnSpc>
                <a:spcPts val="3043"/>
              </a:lnSpc>
            </a:pPr>
            <a:r>
              <a:rPr lang="en-US" sz="4400" b="1" dirty="0">
                <a:solidFill>
                  <a:srgbClr val="7030A0"/>
                </a:solidFill>
                <a:latin typeface="Aparajita" panose="02020603050405020304" pitchFamily="18" charset="0"/>
                <a:cs typeface="Aparajita" panose="02020603050405020304" pitchFamily="18" charset="0"/>
              </a:rPr>
              <a:t>Engineering Practices</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Enterprise Architecture Engineering</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Low Latency &amp; High-Frequency Compute Engineering </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Quality Engineering (QA/QP)</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Resiliency &amp; Production Engineering</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Agile Transformation in Engineering</a:t>
            </a:r>
          </a:p>
          <a:p>
            <a:pPr marL="263876" lvl="1" indent="-457200" algn="l">
              <a:buFont typeface="Wingdings" panose="05000000000000000000" pitchFamily="2" charset="2"/>
              <a:buChar char="q"/>
            </a:pPr>
            <a:r>
              <a:rPr lang="en-US" sz="3200" dirty="0">
                <a:solidFill>
                  <a:srgbClr val="000000"/>
                </a:solidFill>
                <a:latin typeface="Aparajita" panose="02020603050405020304" pitchFamily="18" charset="0"/>
                <a:cs typeface="Aparajita" panose="02020603050405020304" pitchFamily="18" charset="0"/>
              </a:rPr>
              <a:t>Engineering Skill Harvesting</a:t>
            </a:r>
          </a:p>
          <a:p>
            <a:pPr>
              <a:lnSpc>
                <a:spcPts val="2563"/>
              </a:lnSpc>
            </a:pPr>
            <a:endParaRPr dirty="0"/>
          </a:p>
        </p:txBody>
      </p:sp>
      <p:pic>
        <p:nvPicPr>
          <p:cNvPr id="23" name="Picture 4" descr="Exploring the SAP Modules: A Comprehensive List">
            <a:extLst>
              <a:ext uri="{FF2B5EF4-FFF2-40B4-BE49-F238E27FC236}">
                <a16:creationId xmlns:a16="http://schemas.microsoft.com/office/drawing/2014/main" id="{9B4C279A-7D19-C72E-306A-4CDDFD96A4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72322" y="1471476"/>
            <a:ext cx="5715678" cy="3215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60609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B73C6C-7BFA-1DDE-8515-BF0A1AE5630C}"/>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73C9AB12-571A-3702-DCA7-B36BE4174AC1}"/>
              </a:ext>
            </a:extLst>
          </p:cNvPr>
          <p:cNvGrpSpPr/>
          <p:nvPr/>
        </p:nvGrpSpPr>
        <p:grpSpPr>
          <a:xfrm>
            <a:off x="0" y="1287781"/>
            <a:ext cx="18318125" cy="57019"/>
            <a:chOff x="0" y="0"/>
            <a:chExt cx="9185420" cy="169434"/>
          </a:xfrm>
          <a:solidFill>
            <a:schemeClr val="accent2">
              <a:lumMod val="60000"/>
              <a:lumOff val="40000"/>
            </a:schemeClr>
          </a:solidFill>
        </p:grpSpPr>
        <p:sp>
          <p:nvSpPr>
            <p:cNvPr id="5" name="Freeform 5">
              <a:extLst>
                <a:ext uri="{FF2B5EF4-FFF2-40B4-BE49-F238E27FC236}">
                  <a16:creationId xmlns:a16="http://schemas.microsoft.com/office/drawing/2014/main" id="{297E949D-452D-8A1C-CEF4-7B55C630D8F0}"/>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rgbClr val="FFCB54"/>
              </a:solidFill>
            </a:ln>
          </p:spPr>
          <p:txBody>
            <a:bodyPr/>
            <a:lstStyle/>
            <a:p>
              <a:endParaRPr lang="en-IN"/>
            </a:p>
          </p:txBody>
        </p:sp>
      </p:grpSp>
      <p:sp>
        <p:nvSpPr>
          <p:cNvPr id="2" name="Freeform 5">
            <a:extLst>
              <a:ext uri="{FF2B5EF4-FFF2-40B4-BE49-F238E27FC236}">
                <a16:creationId xmlns:a16="http://schemas.microsoft.com/office/drawing/2014/main" id="{233B4C71-D58E-5310-AA9C-98E038BDD205}"/>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7" name="Picture 2" descr="logo">
            <a:extLst>
              <a:ext uri="{FF2B5EF4-FFF2-40B4-BE49-F238E27FC236}">
                <a16:creationId xmlns:a16="http://schemas.microsoft.com/office/drawing/2014/main" id="{3AEFCD4D-61F7-0CF5-3B82-7B3A744539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58849D5-D991-0370-3EDA-EBBDB8B104AD}"/>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15" name="TextBox 4">
            <a:extLst>
              <a:ext uri="{FF2B5EF4-FFF2-40B4-BE49-F238E27FC236}">
                <a16:creationId xmlns:a16="http://schemas.microsoft.com/office/drawing/2014/main" id="{F0E4FDE9-6AFF-F18E-203D-F3D94F903F99}"/>
              </a:ext>
            </a:extLst>
          </p:cNvPr>
          <p:cNvSpPr txBox="1"/>
          <p:nvPr/>
        </p:nvSpPr>
        <p:spPr>
          <a:xfrm>
            <a:off x="438026" y="-147572"/>
            <a:ext cx="8324974" cy="1461939"/>
          </a:xfrm>
          <a:prstGeom prst="rect">
            <a:avLst/>
          </a:prstGeom>
        </p:spPr>
        <p:txBody>
          <a:bodyPr wrap="square" lIns="0" tIns="0" rIns="0" bIns="0" rtlCol="0" anchor="ctr">
            <a:spAutoFit/>
          </a:bodyPr>
          <a:lstStyle/>
          <a:p>
            <a:pPr>
              <a:lnSpc>
                <a:spcPts val="11423"/>
              </a:lnSpc>
            </a:pPr>
            <a:r>
              <a:rPr lang="en-US" sz="8000" b="1" dirty="0">
                <a:latin typeface="Aparajita" panose="02020603050405020304" pitchFamily="18" charset="0"/>
                <a:ea typeface="ADLaM Display" panose="020F0502020204030204" pitchFamily="2" charset="0"/>
                <a:cs typeface="Aparajita" panose="02020603050405020304" pitchFamily="18" charset="0"/>
                <a:sym typeface="Neue Machina Ultra-Bold"/>
              </a:rPr>
              <a:t>Key Clients Served</a:t>
            </a:r>
          </a:p>
        </p:txBody>
      </p:sp>
      <p:grpSp>
        <p:nvGrpSpPr>
          <p:cNvPr id="3" name="Group 2">
            <a:extLst>
              <a:ext uri="{FF2B5EF4-FFF2-40B4-BE49-F238E27FC236}">
                <a16:creationId xmlns:a16="http://schemas.microsoft.com/office/drawing/2014/main" id="{8B11E465-4067-859B-4F6E-B293E2503D98}"/>
              </a:ext>
            </a:extLst>
          </p:cNvPr>
          <p:cNvGrpSpPr/>
          <p:nvPr/>
        </p:nvGrpSpPr>
        <p:grpSpPr>
          <a:xfrm>
            <a:off x="438026" y="2041502"/>
            <a:ext cx="9332728" cy="6577240"/>
            <a:chOff x="1045558" y="1480896"/>
            <a:chExt cx="16613891" cy="7327257"/>
          </a:xfrm>
        </p:grpSpPr>
        <p:sp>
          <p:nvSpPr>
            <p:cNvPr id="6" name="Freeform 7">
              <a:extLst>
                <a:ext uri="{FF2B5EF4-FFF2-40B4-BE49-F238E27FC236}">
                  <a16:creationId xmlns:a16="http://schemas.microsoft.com/office/drawing/2014/main" id="{71431A21-F91D-10F0-05FC-93CBED6F241E}"/>
                </a:ext>
              </a:extLst>
            </p:cNvPr>
            <p:cNvSpPr/>
            <p:nvPr/>
          </p:nvSpPr>
          <p:spPr>
            <a:xfrm>
              <a:off x="1280265" y="1723803"/>
              <a:ext cx="2668997" cy="2031868"/>
            </a:xfrm>
            <a:custGeom>
              <a:avLst/>
              <a:gdLst/>
              <a:ahLst/>
              <a:cxnLst/>
              <a:rect l="l" t="t" r="r" b="b"/>
              <a:pathLst>
                <a:path w="2248504" h="2031869">
                  <a:moveTo>
                    <a:pt x="0" y="0"/>
                  </a:moveTo>
                  <a:lnTo>
                    <a:pt x="2248504" y="0"/>
                  </a:lnTo>
                  <a:lnTo>
                    <a:pt x="2248504" y="2031869"/>
                  </a:lnTo>
                  <a:lnTo>
                    <a:pt x="0" y="2031869"/>
                  </a:lnTo>
                  <a:lnTo>
                    <a:pt x="0" y="0"/>
                  </a:lnTo>
                  <a:close/>
                </a:path>
              </a:pathLst>
            </a:custGeom>
            <a:blipFill>
              <a:blip r:embed="rId4"/>
              <a:stretch>
                <a:fillRect b="-10661"/>
              </a:stretch>
            </a:blipFill>
          </p:spPr>
          <p:txBody>
            <a:bodyPr/>
            <a:lstStyle/>
            <a:p>
              <a:endParaRPr lang="en-IN"/>
            </a:p>
          </p:txBody>
        </p:sp>
        <p:sp>
          <p:nvSpPr>
            <p:cNvPr id="9" name="Freeform 8">
              <a:extLst>
                <a:ext uri="{FF2B5EF4-FFF2-40B4-BE49-F238E27FC236}">
                  <a16:creationId xmlns:a16="http://schemas.microsoft.com/office/drawing/2014/main" id="{5293446E-8280-BCA5-510E-622DA285C081}"/>
                </a:ext>
              </a:extLst>
            </p:cNvPr>
            <p:cNvSpPr/>
            <p:nvPr/>
          </p:nvSpPr>
          <p:spPr>
            <a:xfrm>
              <a:off x="5578626" y="6887303"/>
              <a:ext cx="3524932" cy="1652839"/>
            </a:xfrm>
            <a:custGeom>
              <a:avLst/>
              <a:gdLst/>
              <a:ahLst/>
              <a:cxnLst/>
              <a:rect l="l" t="t" r="r" b="b"/>
              <a:pathLst>
                <a:path w="4235814" h="2382645">
                  <a:moveTo>
                    <a:pt x="0" y="0"/>
                  </a:moveTo>
                  <a:lnTo>
                    <a:pt x="4235814" y="0"/>
                  </a:lnTo>
                  <a:lnTo>
                    <a:pt x="4235814" y="2382645"/>
                  </a:lnTo>
                  <a:lnTo>
                    <a:pt x="0" y="2382645"/>
                  </a:lnTo>
                  <a:lnTo>
                    <a:pt x="0" y="0"/>
                  </a:lnTo>
                  <a:close/>
                </a:path>
              </a:pathLst>
            </a:custGeom>
            <a:blipFill>
              <a:blip r:embed="rId5"/>
              <a:stretch>
                <a:fillRect/>
              </a:stretch>
            </a:blipFill>
          </p:spPr>
          <p:txBody>
            <a:bodyPr/>
            <a:lstStyle/>
            <a:p>
              <a:endParaRPr lang="en-IN"/>
            </a:p>
          </p:txBody>
        </p:sp>
        <p:sp>
          <p:nvSpPr>
            <p:cNvPr id="10" name="Freeform 9">
              <a:extLst>
                <a:ext uri="{FF2B5EF4-FFF2-40B4-BE49-F238E27FC236}">
                  <a16:creationId xmlns:a16="http://schemas.microsoft.com/office/drawing/2014/main" id="{1FAA1B32-7370-D531-7E13-0C28582882EE}"/>
                </a:ext>
              </a:extLst>
            </p:cNvPr>
            <p:cNvSpPr/>
            <p:nvPr/>
          </p:nvSpPr>
          <p:spPr>
            <a:xfrm>
              <a:off x="8397272" y="1680559"/>
              <a:ext cx="3675682" cy="2270646"/>
            </a:xfrm>
            <a:custGeom>
              <a:avLst/>
              <a:gdLst/>
              <a:ahLst/>
              <a:cxnLst/>
              <a:rect l="l" t="t" r="r" b="b"/>
              <a:pathLst>
                <a:path w="5130916" h="3206824">
                  <a:moveTo>
                    <a:pt x="0" y="0"/>
                  </a:moveTo>
                  <a:lnTo>
                    <a:pt x="5130917" y="0"/>
                  </a:lnTo>
                  <a:lnTo>
                    <a:pt x="5130917" y="3206823"/>
                  </a:lnTo>
                  <a:lnTo>
                    <a:pt x="0" y="3206823"/>
                  </a:lnTo>
                  <a:lnTo>
                    <a:pt x="0" y="0"/>
                  </a:lnTo>
                  <a:close/>
                </a:path>
              </a:pathLst>
            </a:custGeom>
            <a:blipFill>
              <a:blip r:embed="rId6"/>
              <a:stretch>
                <a:fillRect/>
              </a:stretch>
            </a:blipFill>
          </p:spPr>
          <p:txBody>
            <a:bodyPr/>
            <a:lstStyle/>
            <a:p>
              <a:endParaRPr lang="en-IN"/>
            </a:p>
          </p:txBody>
        </p:sp>
        <p:sp>
          <p:nvSpPr>
            <p:cNvPr id="11" name="Freeform 10">
              <a:extLst>
                <a:ext uri="{FF2B5EF4-FFF2-40B4-BE49-F238E27FC236}">
                  <a16:creationId xmlns:a16="http://schemas.microsoft.com/office/drawing/2014/main" id="{CAC09269-6A30-B65C-9919-02672FC4B952}"/>
                </a:ext>
              </a:extLst>
            </p:cNvPr>
            <p:cNvSpPr/>
            <p:nvPr/>
          </p:nvSpPr>
          <p:spPr>
            <a:xfrm>
              <a:off x="1469650" y="6503628"/>
              <a:ext cx="2677705" cy="2031869"/>
            </a:xfrm>
            <a:custGeom>
              <a:avLst/>
              <a:gdLst/>
              <a:ahLst/>
              <a:cxnLst/>
              <a:rect l="l" t="t" r="r" b="b"/>
              <a:pathLst>
                <a:path w="2737220" h="2078170">
                  <a:moveTo>
                    <a:pt x="0" y="0"/>
                  </a:moveTo>
                  <a:lnTo>
                    <a:pt x="2737219" y="0"/>
                  </a:lnTo>
                  <a:lnTo>
                    <a:pt x="2737219" y="2078170"/>
                  </a:lnTo>
                  <a:lnTo>
                    <a:pt x="0" y="2078170"/>
                  </a:lnTo>
                  <a:lnTo>
                    <a:pt x="0" y="0"/>
                  </a:lnTo>
                  <a:close/>
                </a:path>
              </a:pathLst>
            </a:custGeom>
            <a:blipFill>
              <a:blip r:embed="rId7"/>
              <a:stretch>
                <a:fillRect r="-7"/>
              </a:stretch>
            </a:blipFill>
          </p:spPr>
          <p:txBody>
            <a:bodyPr/>
            <a:lstStyle/>
            <a:p>
              <a:endParaRPr lang="en-IN"/>
            </a:p>
          </p:txBody>
        </p:sp>
        <p:sp>
          <p:nvSpPr>
            <p:cNvPr id="12" name="Freeform 11">
              <a:extLst>
                <a:ext uri="{FF2B5EF4-FFF2-40B4-BE49-F238E27FC236}">
                  <a16:creationId xmlns:a16="http://schemas.microsoft.com/office/drawing/2014/main" id="{08C13658-096E-3F4D-A53E-6635A91348C3}"/>
                </a:ext>
              </a:extLst>
            </p:cNvPr>
            <p:cNvSpPr/>
            <p:nvPr/>
          </p:nvSpPr>
          <p:spPr>
            <a:xfrm>
              <a:off x="10400724" y="6537507"/>
              <a:ext cx="2270646" cy="2270646"/>
            </a:xfrm>
            <a:custGeom>
              <a:avLst/>
              <a:gdLst/>
              <a:ahLst/>
              <a:cxnLst/>
              <a:rect l="l" t="t" r="r" b="b"/>
              <a:pathLst>
                <a:path w="2270646" h="2270646">
                  <a:moveTo>
                    <a:pt x="0" y="0"/>
                  </a:moveTo>
                  <a:lnTo>
                    <a:pt x="2270646" y="0"/>
                  </a:lnTo>
                  <a:lnTo>
                    <a:pt x="2270646" y="2270645"/>
                  </a:lnTo>
                  <a:lnTo>
                    <a:pt x="0" y="2270645"/>
                  </a:lnTo>
                  <a:lnTo>
                    <a:pt x="0" y="0"/>
                  </a:lnTo>
                  <a:close/>
                </a:path>
              </a:pathLst>
            </a:custGeom>
            <a:blipFill>
              <a:blip r:embed="rId8"/>
              <a:stretch>
                <a:fillRect/>
              </a:stretch>
            </a:blipFill>
          </p:spPr>
          <p:txBody>
            <a:bodyPr/>
            <a:lstStyle/>
            <a:p>
              <a:endParaRPr lang="en-IN"/>
            </a:p>
          </p:txBody>
        </p:sp>
        <p:pic>
          <p:nvPicPr>
            <p:cNvPr id="13" name="Picture 2" descr="Revenue Management Software Solutions for High Tech &amp; Life ...">
              <a:extLst>
                <a:ext uri="{FF2B5EF4-FFF2-40B4-BE49-F238E27FC236}">
                  <a16:creationId xmlns:a16="http://schemas.microsoft.com/office/drawing/2014/main" id="{15997164-7984-A606-A4C3-ED310C55510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21400" y="4528134"/>
              <a:ext cx="3475872" cy="83420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956C3FB2-7CB5-7DBA-F36E-03119D01362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968536" y="6516609"/>
              <a:ext cx="2015419" cy="201888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Microsoft Unveils a New Look - The Official Microsoft Blog">
              <a:extLst>
                <a:ext uri="{FF2B5EF4-FFF2-40B4-BE49-F238E27FC236}">
                  <a16:creationId xmlns:a16="http://schemas.microsoft.com/office/drawing/2014/main" id="{81F9919E-9B8B-3748-6AEA-A94E80503AA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081239" y="2011088"/>
              <a:ext cx="4052079" cy="1619661"/>
            </a:xfrm>
            <a:prstGeom prst="rect">
              <a:avLst/>
            </a:prstGeom>
            <a:noFill/>
            <a:extLst>
              <a:ext uri="{909E8E84-426E-40DD-AFC4-6F175D3DCCD1}">
                <a14:hiddenFill xmlns:a14="http://schemas.microsoft.com/office/drawing/2010/main">
                  <a:solidFill>
                    <a:srgbClr val="FFFFFF"/>
                  </a:solidFill>
                </a14:hiddenFill>
              </a:ext>
            </a:extLst>
          </p:spPr>
        </p:pic>
        <p:sp>
          <p:nvSpPr>
            <p:cNvPr id="20" name="AutoShape 12" descr="Datapro Computer Systems logo">
              <a:extLst>
                <a:ext uri="{FF2B5EF4-FFF2-40B4-BE49-F238E27FC236}">
                  <a16:creationId xmlns:a16="http://schemas.microsoft.com/office/drawing/2014/main" id="{9EB2C579-D233-5AAC-F4D4-E4F02033687C}"/>
                </a:ext>
              </a:extLst>
            </p:cNvPr>
            <p:cNvSpPr>
              <a:spLocks noChangeAspect="1" noChangeArrowheads="1"/>
            </p:cNvSpPr>
            <p:nvPr/>
          </p:nvSpPr>
          <p:spPr bwMode="auto">
            <a:xfrm>
              <a:off x="8495929" y="2266639"/>
              <a:ext cx="3524932" cy="35249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Picture 4" descr="Newsroom - Media Gallery | Newsroom | Thermo Fisher Scientific">
              <a:extLst>
                <a:ext uri="{FF2B5EF4-FFF2-40B4-BE49-F238E27FC236}">
                  <a16:creationId xmlns:a16="http://schemas.microsoft.com/office/drawing/2014/main" id="{F5ED72EB-22FA-33F0-BF71-FA2B7B202F0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20746" y="1480896"/>
              <a:ext cx="4191000" cy="29210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Velocity Clinical Research - Clinical Trial Site Organization">
              <a:extLst>
                <a:ext uri="{FF2B5EF4-FFF2-40B4-BE49-F238E27FC236}">
                  <a16:creationId xmlns:a16="http://schemas.microsoft.com/office/drawing/2014/main" id="{AEB0E025-5851-E39E-991F-BC4927BB0C2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5558" y="4499280"/>
              <a:ext cx="3138410" cy="13809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HARMAN Unveils New Logo, Signals Brand Evolution | HARMAN">
              <a:extLst>
                <a:ext uri="{FF2B5EF4-FFF2-40B4-BE49-F238E27FC236}">
                  <a16:creationId xmlns:a16="http://schemas.microsoft.com/office/drawing/2014/main" id="{E9FC03F8-95E8-8FDD-8243-8EF6ADD4F8F1}"/>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866" t="13202" r="10264" b="11938"/>
            <a:stretch>
              <a:fillRect/>
            </a:stretch>
          </p:blipFill>
          <p:spPr bwMode="auto">
            <a:xfrm>
              <a:off x="8299850" y="3669017"/>
              <a:ext cx="4663310" cy="232617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Pure Heart: The Evolution of the Southwest Corporate Logo ...">
              <a:extLst>
                <a:ext uri="{FF2B5EF4-FFF2-40B4-BE49-F238E27FC236}">
                  <a16:creationId xmlns:a16="http://schemas.microsoft.com/office/drawing/2014/main" id="{530A22EE-5F40-F9E7-745F-5691F6156C2E}"/>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t="37257" b="31086"/>
            <a:stretch>
              <a:fillRect/>
            </a:stretch>
          </p:blipFill>
          <p:spPr bwMode="auto">
            <a:xfrm>
              <a:off x="12583449" y="4474519"/>
              <a:ext cx="5076000" cy="9703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37737902-6FE0-80C2-44D3-3BF2048911FF}"/>
              </a:ext>
            </a:extLst>
          </p:cNvPr>
          <p:cNvGrpSpPr/>
          <p:nvPr/>
        </p:nvGrpSpPr>
        <p:grpSpPr>
          <a:xfrm>
            <a:off x="9539345" y="2687646"/>
            <a:ext cx="8552927" cy="5712205"/>
            <a:chOff x="0" y="2742780"/>
            <a:chExt cx="16171499" cy="6092838"/>
          </a:xfrm>
        </p:grpSpPr>
        <p:pic>
          <p:nvPicPr>
            <p:cNvPr id="28" name="Picture 2" descr="Teradata Website Terms of Use">
              <a:extLst>
                <a:ext uri="{FF2B5EF4-FFF2-40B4-BE49-F238E27FC236}">
                  <a16:creationId xmlns:a16="http://schemas.microsoft.com/office/drawing/2014/main" id="{46375074-5F41-1B2E-D6BB-E1F079532A41}"/>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3967" r="11743" b="32033"/>
            <a:stretch>
              <a:fillRect/>
            </a:stretch>
          </p:blipFill>
          <p:spPr bwMode="auto">
            <a:xfrm>
              <a:off x="0" y="2771061"/>
              <a:ext cx="6966077" cy="140883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2AE4DC56-B148-5B59-DEF3-9B83E9000DDB}"/>
                </a:ext>
              </a:extLst>
            </p:cNvPr>
            <p:cNvPicPr>
              <a:picLocks noChangeAspect="1"/>
            </p:cNvPicPr>
            <p:nvPr/>
          </p:nvPicPr>
          <p:blipFill>
            <a:blip r:embed="rId17"/>
            <a:stretch>
              <a:fillRect/>
            </a:stretch>
          </p:blipFill>
          <p:spPr>
            <a:xfrm>
              <a:off x="7016294" y="2742780"/>
              <a:ext cx="3171210" cy="1144455"/>
            </a:xfrm>
            <a:prstGeom prst="rect">
              <a:avLst/>
            </a:prstGeom>
          </p:spPr>
        </p:pic>
        <p:sp>
          <p:nvSpPr>
            <p:cNvPr id="35" name="Freeform 12">
              <a:extLst>
                <a:ext uri="{FF2B5EF4-FFF2-40B4-BE49-F238E27FC236}">
                  <a16:creationId xmlns:a16="http://schemas.microsoft.com/office/drawing/2014/main" id="{920420A1-3258-206D-BFAD-F1252E221163}"/>
                </a:ext>
              </a:extLst>
            </p:cNvPr>
            <p:cNvSpPr/>
            <p:nvPr/>
          </p:nvSpPr>
          <p:spPr>
            <a:xfrm>
              <a:off x="11378488" y="2819212"/>
              <a:ext cx="4369606" cy="1143000"/>
            </a:xfrm>
            <a:custGeom>
              <a:avLst/>
              <a:gdLst/>
              <a:ahLst/>
              <a:cxnLst/>
              <a:rect l="l" t="t" r="r" b="b"/>
              <a:pathLst>
                <a:path w="5707857" h="1143000">
                  <a:moveTo>
                    <a:pt x="0" y="0"/>
                  </a:moveTo>
                  <a:lnTo>
                    <a:pt x="5707857" y="0"/>
                  </a:lnTo>
                  <a:lnTo>
                    <a:pt x="5707857" y="1143000"/>
                  </a:lnTo>
                  <a:lnTo>
                    <a:pt x="0" y="1143000"/>
                  </a:lnTo>
                  <a:lnTo>
                    <a:pt x="0" y="0"/>
                  </a:lnTo>
                  <a:close/>
                </a:path>
              </a:pathLst>
            </a:custGeom>
            <a:blipFill>
              <a:blip r:embed="rId18"/>
              <a:stretch>
                <a:fillRect/>
              </a:stretch>
            </a:blipFill>
          </p:spPr>
          <p:txBody>
            <a:bodyPr/>
            <a:lstStyle/>
            <a:p>
              <a:endParaRPr lang="en-IN"/>
            </a:p>
          </p:txBody>
        </p:sp>
        <p:sp>
          <p:nvSpPr>
            <p:cNvPr id="37" name="Freeform 15">
              <a:extLst>
                <a:ext uri="{FF2B5EF4-FFF2-40B4-BE49-F238E27FC236}">
                  <a16:creationId xmlns:a16="http://schemas.microsoft.com/office/drawing/2014/main" id="{B6D5337B-5BB1-5171-F626-BA5AA5543487}"/>
                </a:ext>
              </a:extLst>
            </p:cNvPr>
            <p:cNvSpPr/>
            <p:nvPr/>
          </p:nvSpPr>
          <p:spPr>
            <a:xfrm>
              <a:off x="11634339" y="4702036"/>
              <a:ext cx="3962729" cy="1593124"/>
            </a:xfrm>
            <a:custGeom>
              <a:avLst/>
              <a:gdLst/>
              <a:ahLst/>
              <a:cxnLst/>
              <a:rect l="l" t="t" r="r" b="b"/>
              <a:pathLst>
                <a:path w="4175881" h="2182006">
                  <a:moveTo>
                    <a:pt x="0" y="0"/>
                  </a:moveTo>
                  <a:lnTo>
                    <a:pt x="4175881" y="0"/>
                  </a:lnTo>
                  <a:lnTo>
                    <a:pt x="4175881" y="2182006"/>
                  </a:lnTo>
                  <a:lnTo>
                    <a:pt x="0" y="2182006"/>
                  </a:lnTo>
                  <a:lnTo>
                    <a:pt x="0" y="0"/>
                  </a:lnTo>
                  <a:close/>
                </a:path>
              </a:pathLst>
            </a:custGeom>
            <a:blipFill>
              <a:blip r:embed="rId19"/>
              <a:stretch>
                <a:fillRect r="-4"/>
              </a:stretch>
            </a:blipFill>
          </p:spPr>
          <p:txBody>
            <a:bodyPr/>
            <a:lstStyle/>
            <a:p>
              <a:endParaRPr lang="en-IN"/>
            </a:p>
          </p:txBody>
        </p:sp>
        <p:sp>
          <p:nvSpPr>
            <p:cNvPr id="38" name="Freeform 13">
              <a:extLst>
                <a:ext uri="{FF2B5EF4-FFF2-40B4-BE49-F238E27FC236}">
                  <a16:creationId xmlns:a16="http://schemas.microsoft.com/office/drawing/2014/main" id="{D0E91D33-113B-166E-4872-5498AC556ACB}"/>
                </a:ext>
              </a:extLst>
            </p:cNvPr>
            <p:cNvSpPr/>
            <p:nvPr/>
          </p:nvSpPr>
          <p:spPr>
            <a:xfrm>
              <a:off x="1234130" y="6723331"/>
              <a:ext cx="4091254" cy="1979772"/>
            </a:xfrm>
            <a:custGeom>
              <a:avLst/>
              <a:gdLst/>
              <a:ahLst/>
              <a:cxnLst/>
              <a:rect l="l" t="t" r="r" b="b"/>
              <a:pathLst>
                <a:path w="3291941" h="2520146">
                  <a:moveTo>
                    <a:pt x="0" y="0"/>
                  </a:moveTo>
                  <a:lnTo>
                    <a:pt x="3291941" y="0"/>
                  </a:lnTo>
                  <a:lnTo>
                    <a:pt x="3291941" y="2520145"/>
                  </a:lnTo>
                  <a:lnTo>
                    <a:pt x="0" y="2520145"/>
                  </a:lnTo>
                  <a:lnTo>
                    <a:pt x="0" y="0"/>
                  </a:lnTo>
                  <a:close/>
                </a:path>
              </a:pathLst>
            </a:custGeom>
            <a:blipFill>
              <a:blip r:embed="rId20"/>
              <a:stretch>
                <a:fillRect/>
              </a:stretch>
            </a:blipFill>
          </p:spPr>
          <p:txBody>
            <a:bodyPr/>
            <a:lstStyle/>
            <a:p>
              <a:endParaRPr lang="en-IN"/>
            </a:p>
          </p:txBody>
        </p:sp>
        <p:pic>
          <p:nvPicPr>
            <p:cNvPr id="40" name="Picture 2" descr="KLA Corporation Logo - PNG Logo Vector Downloads (SVG, EPS)">
              <a:extLst>
                <a:ext uri="{FF2B5EF4-FFF2-40B4-BE49-F238E27FC236}">
                  <a16:creationId xmlns:a16="http://schemas.microsoft.com/office/drawing/2014/main" id="{ED2C1FE5-690D-4A97-C079-C26DA70A7C84}"/>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74737" y="6632863"/>
              <a:ext cx="2403457" cy="220275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AgileOne">
              <a:extLst>
                <a:ext uri="{FF2B5EF4-FFF2-40B4-BE49-F238E27FC236}">
                  <a16:creationId xmlns:a16="http://schemas.microsoft.com/office/drawing/2014/main" id="{1D2F96F4-34C1-4821-2576-6B1FFCEB3F8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37020" y="4185508"/>
              <a:ext cx="4629686" cy="256947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Velocity Clinical Research - Clinical Trial Site Organization">
              <a:extLst>
                <a:ext uri="{FF2B5EF4-FFF2-40B4-BE49-F238E27FC236}">
                  <a16:creationId xmlns:a16="http://schemas.microsoft.com/office/drawing/2014/main" id="{D37FE31A-7553-E7B2-1525-7BCF3DA9140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26724" y="4934401"/>
              <a:ext cx="3138410" cy="13809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Zaggle">
              <a:extLst>
                <a:ext uri="{FF2B5EF4-FFF2-40B4-BE49-F238E27FC236}">
                  <a16:creationId xmlns:a16="http://schemas.microsoft.com/office/drawing/2014/main" id="{0C20D03E-C5E0-04C6-C534-8965CCB21D8A}"/>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l="20641" t="32016" r="17145" b="32135"/>
            <a:stretch>
              <a:fillRect/>
            </a:stretch>
          </p:blipFill>
          <p:spPr bwMode="auto">
            <a:xfrm>
              <a:off x="11378488" y="6895278"/>
              <a:ext cx="4793011" cy="13809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744361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619487-BBAB-2C88-BBA4-94D3696DCB9A}"/>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121F108D-2E04-FCA3-7383-B3E0AA264EB8}"/>
              </a:ext>
            </a:extLst>
          </p:cNvPr>
          <p:cNvGrpSpPr/>
          <p:nvPr/>
        </p:nvGrpSpPr>
        <p:grpSpPr>
          <a:xfrm>
            <a:off x="0" y="1287781"/>
            <a:ext cx="18318125" cy="57019"/>
            <a:chOff x="0" y="0"/>
            <a:chExt cx="9185420" cy="169434"/>
          </a:xfrm>
          <a:solidFill>
            <a:schemeClr val="accent2">
              <a:lumMod val="60000"/>
              <a:lumOff val="40000"/>
            </a:schemeClr>
          </a:solidFill>
        </p:grpSpPr>
        <p:sp>
          <p:nvSpPr>
            <p:cNvPr id="5" name="Freeform 5">
              <a:extLst>
                <a:ext uri="{FF2B5EF4-FFF2-40B4-BE49-F238E27FC236}">
                  <a16:creationId xmlns:a16="http://schemas.microsoft.com/office/drawing/2014/main" id="{E5B3734C-813F-A12B-A358-87A4851F8927}"/>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 name="Freeform 5">
            <a:extLst>
              <a:ext uri="{FF2B5EF4-FFF2-40B4-BE49-F238E27FC236}">
                <a16:creationId xmlns:a16="http://schemas.microsoft.com/office/drawing/2014/main" id="{71CD1ED7-F6D5-4488-97F7-3CE09208BDF8}"/>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7" name="Picture 2" descr="logo">
            <a:extLst>
              <a:ext uri="{FF2B5EF4-FFF2-40B4-BE49-F238E27FC236}">
                <a16:creationId xmlns:a16="http://schemas.microsoft.com/office/drawing/2014/main" id="{10ABAA36-37E6-9423-0D8D-5DAAF8E650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119217"/>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D5330D0-BDD6-FDBD-9A9E-F7435B18A7E3}"/>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15" name="TextBox 4">
            <a:extLst>
              <a:ext uri="{FF2B5EF4-FFF2-40B4-BE49-F238E27FC236}">
                <a16:creationId xmlns:a16="http://schemas.microsoft.com/office/drawing/2014/main" id="{F4DF1D11-9DB4-5900-A8C0-10B634131E21}"/>
              </a:ext>
            </a:extLst>
          </p:cNvPr>
          <p:cNvSpPr txBox="1"/>
          <p:nvPr/>
        </p:nvSpPr>
        <p:spPr>
          <a:xfrm>
            <a:off x="197240" y="-147653"/>
            <a:ext cx="12812159" cy="1461939"/>
          </a:xfrm>
          <a:prstGeom prst="rect">
            <a:avLst/>
          </a:prstGeom>
        </p:spPr>
        <p:txBody>
          <a:bodyPr wrap="square" lIns="0" tIns="0" rIns="0" bIns="0" rtlCol="0" anchor="ctr">
            <a:spAutoFit/>
          </a:bodyPr>
          <a:lstStyle/>
          <a:p>
            <a:pPr>
              <a:lnSpc>
                <a:spcPts val="11423"/>
              </a:lnSpc>
            </a:pPr>
            <a:r>
              <a:rPr lang="en-US" sz="8000" b="1" dirty="0">
                <a:latin typeface="Aparajita" panose="02020603050405020304" pitchFamily="18" charset="0"/>
                <a:ea typeface="ADLaM Display" panose="020F0502020204030204" pitchFamily="2" charset="0"/>
                <a:cs typeface="Aparajita" panose="02020603050405020304" pitchFamily="18" charset="0"/>
                <a:sym typeface="Neue Machina Ultra-Bold"/>
              </a:rPr>
              <a:t>Internship Roles &amp; Responsibilities</a:t>
            </a:r>
          </a:p>
        </p:txBody>
      </p:sp>
      <p:sp>
        <p:nvSpPr>
          <p:cNvPr id="14" name="TextBox 5"/>
          <p:cNvSpPr txBox="1"/>
          <p:nvPr/>
        </p:nvSpPr>
        <p:spPr>
          <a:xfrm>
            <a:off x="457200" y="2811131"/>
            <a:ext cx="17145000" cy="4664739"/>
          </a:xfrm>
          <a:prstGeom prst="rect">
            <a:avLst/>
          </a:prstGeom>
        </p:spPr>
        <p:txBody>
          <a:bodyPr wrap="square" lIns="0" tIns="0" rIns="0" bIns="0" rtlCol="0" anchor="ctr">
            <a:spAutoFit/>
          </a:bodyPr>
          <a:lstStyle/>
          <a:p>
            <a:pPr marL="440967" indent="-571500" algn="just">
              <a:lnSpc>
                <a:spcPts val="4539"/>
              </a:lnSpc>
              <a:spcAft>
                <a:spcPts val="1200"/>
              </a:spcAft>
              <a:buFont typeface="Wingdings" panose="05000000000000000000" pitchFamily="2" charset="2"/>
              <a:buChar char="§"/>
            </a:pPr>
            <a:r>
              <a:rPr lang="en-US" sz="4000" dirty="0">
                <a:solidFill>
                  <a:srgbClr val="010101"/>
                </a:solidFill>
                <a:latin typeface="Aparajita" panose="02020603050405020304" pitchFamily="18" charset="0"/>
                <a:ea typeface="Open Sauce"/>
                <a:cs typeface="Aparajita" panose="02020603050405020304" pitchFamily="18" charset="0"/>
                <a:sym typeface="Open Sauce"/>
              </a:rPr>
              <a:t>I am Vedika working as an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Azure Data Engineer - Intern</a:t>
            </a:r>
            <a:r>
              <a:rPr lang="en-US" sz="4000" dirty="0">
                <a:solidFill>
                  <a:srgbClr val="010101"/>
                </a:solidFill>
                <a:latin typeface="Aparajita" panose="02020603050405020304" pitchFamily="18" charset="0"/>
                <a:ea typeface="Open Sauce"/>
                <a:cs typeface="Aparajita" panose="02020603050405020304" pitchFamily="18" charset="0"/>
                <a:sym typeface="Open Sauce"/>
              </a:rPr>
              <a:t>.</a:t>
            </a:r>
          </a:p>
          <a:p>
            <a:pPr marL="440967" indent="-571500" algn="just">
              <a:lnSpc>
                <a:spcPts val="4539"/>
              </a:lnSpc>
              <a:spcAft>
                <a:spcPts val="1200"/>
              </a:spcAft>
              <a:buFont typeface="Wingdings" panose="05000000000000000000" pitchFamily="2" charset="2"/>
              <a:buChar char="§"/>
            </a:pPr>
            <a:r>
              <a:rPr lang="en-US" sz="4000" dirty="0">
                <a:solidFill>
                  <a:srgbClr val="010101"/>
                </a:solidFill>
                <a:latin typeface="Aparajita" panose="02020603050405020304" pitchFamily="18" charset="0"/>
                <a:ea typeface="Open Sauce"/>
                <a:cs typeface="Aparajita" panose="02020603050405020304" pitchFamily="18" charset="0"/>
                <a:sym typeface="Open Sauce"/>
              </a:rPr>
              <a:t>My role involves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building and understanding Azure cloud-based solutions and services.</a:t>
            </a:r>
          </a:p>
          <a:p>
            <a:pPr marL="440967" indent="-571500" algn="just">
              <a:lnSpc>
                <a:spcPts val="4539"/>
              </a:lnSpc>
              <a:spcAft>
                <a:spcPts val="1200"/>
              </a:spcAft>
              <a:buFont typeface="Wingdings" panose="05000000000000000000" pitchFamily="2" charset="2"/>
              <a:buChar char="§"/>
            </a:pPr>
            <a:r>
              <a:rPr lang="en-US" sz="4000" dirty="0">
                <a:solidFill>
                  <a:srgbClr val="010101"/>
                </a:solidFill>
                <a:latin typeface="Aparajita" panose="02020603050405020304" pitchFamily="18" charset="0"/>
                <a:ea typeface="Open Sauce"/>
                <a:cs typeface="Aparajita" panose="02020603050405020304" pitchFamily="18" charset="0"/>
                <a:sym typeface="Open Sauce"/>
              </a:rPr>
              <a:t>I am involved in writing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SQL Queries,</a:t>
            </a:r>
            <a:r>
              <a:rPr lang="en-US" sz="4000" dirty="0">
                <a:solidFill>
                  <a:srgbClr val="010101"/>
                </a:solidFill>
                <a:latin typeface="Aparajita" panose="02020603050405020304" pitchFamily="18" charset="0"/>
                <a:ea typeface="Open Sauce"/>
                <a:cs typeface="Aparajita" panose="02020603050405020304" pitchFamily="18" charset="0"/>
                <a:sym typeface="Open Sauce"/>
              </a:rPr>
              <a:t> </a:t>
            </a:r>
            <a:r>
              <a:rPr lang="en-US" sz="4000" b="1" dirty="0" err="1">
                <a:solidFill>
                  <a:srgbClr val="010101"/>
                </a:solidFill>
                <a:latin typeface="Aparajita" panose="02020603050405020304" pitchFamily="18" charset="0"/>
                <a:ea typeface="Open Sauce"/>
                <a:cs typeface="Aparajita" panose="02020603050405020304" pitchFamily="18" charset="0"/>
                <a:sym typeface="Open Sauce"/>
              </a:rPr>
              <a:t>NOSql</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 Queries </a:t>
            </a:r>
            <a:r>
              <a:rPr lang="en-US" sz="4000" dirty="0">
                <a:solidFill>
                  <a:srgbClr val="010101"/>
                </a:solidFill>
                <a:latin typeface="Aparajita" panose="02020603050405020304" pitchFamily="18" charset="0"/>
                <a:ea typeface="Open Sauce"/>
                <a:cs typeface="Aparajita" panose="02020603050405020304" pitchFamily="18" charset="0"/>
                <a:sym typeface="Open Sauce"/>
              </a:rPr>
              <a:t>performing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Data ingestion,</a:t>
            </a:r>
            <a:r>
              <a:rPr lang="en-US" sz="4000" dirty="0">
                <a:solidFill>
                  <a:srgbClr val="010101"/>
                </a:solidFill>
                <a:latin typeface="Aparajita" panose="02020603050405020304" pitchFamily="18" charset="0"/>
                <a:ea typeface="Open Sauce"/>
                <a:cs typeface="Aparajita" panose="02020603050405020304" pitchFamily="18" charset="0"/>
                <a:sym typeface="Open Sauce"/>
              </a:rPr>
              <a:t>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Data cleaning, aggregation and validation using azure SQL server and azure block storage</a:t>
            </a:r>
            <a:r>
              <a:rPr lang="en-US" sz="4000" dirty="0">
                <a:solidFill>
                  <a:srgbClr val="010101"/>
                </a:solidFill>
                <a:latin typeface="Aparajita" panose="02020603050405020304" pitchFamily="18" charset="0"/>
                <a:ea typeface="Open Sauce"/>
                <a:cs typeface="Aparajita" panose="02020603050405020304" pitchFamily="18" charset="0"/>
                <a:sym typeface="Open Sauce"/>
              </a:rPr>
              <a:t> </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&amp; optimizing data workflows using Azure Data Factory.</a:t>
            </a:r>
            <a:endParaRPr lang="en-US" sz="4000" dirty="0">
              <a:solidFill>
                <a:srgbClr val="010101"/>
              </a:solidFill>
              <a:latin typeface="Aparajita" panose="02020603050405020304" pitchFamily="18" charset="0"/>
              <a:ea typeface="Open Sauce"/>
              <a:cs typeface="Aparajita" panose="02020603050405020304" pitchFamily="18" charset="0"/>
              <a:sym typeface="Open Sauce"/>
            </a:endParaRPr>
          </a:p>
          <a:p>
            <a:pPr marL="440967" indent="-571500" algn="just">
              <a:lnSpc>
                <a:spcPts val="4539"/>
              </a:lnSpc>
              <a:spcAft>
                <a:spcPts val="1200"/>
              </a:spcAft>
              <a:buFont typeface="Wingdings" panose="05000000000000000000" pitchFamily="2" charset="2"/>
              <a:buChar char="§"/>
            </a:pPr>
            <a:r>
              <a:rPr lang="en-US" sz="4000" dirty="0">
                <a:solidFill>
                  <a:srgbClr val="010101"/>
                </a:solidFill>
                <a:latin typeface="Aparajita" panose="02020603050405020304" pitchFamily="18" charset="0"/>
                <a:ea typeface="Open Sauce"/>
                <a:cs typeface="Aparajita" panose="02020603050405020304" pitchFamily="18" charset="0"/>
                <a:sym typeface="Open Sauce"/>
              </a:rPr>
              <a:t>I am working on</a:t>
            </a:r>
            <a:r>
              <a:rPr lang="en-US" sz="4000" b="1" dirty="0">
                <a:solidFill>
                  <a:srgbClr val="010101"/>
                </a:solidFill>
                <a:latin typeface="Aparajita" panose="02020603050405020304" pitchFamily="18" charset="0"/>
                <a:ea typeface="Open Sauce"/>
                <a:cs typeface="Aparajita" panose="02020603050405020304" pitchFamily="18" charset="0"/>
                <a:sym typeface="Open Sauce"/>
              </a:rPr>
              <a:t> project documentation of data and cloud services</a:t>
            </a:r>
            <a:r>
              <a:rPr lang="en-US" sz="4000" dirty="0">
                <a:solidFill>
                  <a:srgbClr val="010101"/>
                </a:solidFill>
                <a:latin typeface="Aparajita" panose="02020603050405020304" pitchFamily="18" charset="0"/>
                <a:ea typeface="Open Sauce"/>
                <a:cs typeface="Aparajita" panose="02020603050405020304" pitchFamily="18" charset="0"/>
                <a:sym typeface="Open Sauce"/>
              </a:rPr>
              <a:t>.</a:t>
            </a:r>
          </a:p>
          <a:p>
            <a:pPr marL="440967" indent="-571500" algn="just">
              <a:lnSpc>
                <a:spcPts val="4539"/>
              </a:lnSpc>
              <a:spcAft>
                <a:spcPts val="1200"/>
              </a:spcAft>
              <a:buFont typeface="Wingdings" panose="05000000000000000000" pitchFamily="2" charset="2"/>
              <a:buChar char="§"/>
            </a:pPr>
            <a:r>
              <a:rPr lang="en-US" sz="4000" dirty="0">
                <a:solidFill>
                  <a:srgbClr val="010101"/>
                </a:solidFill>
                <a:latin typeface="Aparajita" panose="02020603050405020304" pitchFamily="18" charset="0"/>
                <a:ea typeface="Open Sauce"/>
                <a:cs typeface="Aparajita" panose="02020603050405020304" pitchFamily="18" charset="0"/>
                <a:sym typeface="Open Sauce"/>
              </a:rPr>
              <a:t>This internship focuses on gaining real-time project exposure and industry experience.</a:t>
            </a:r>
          </a:p>
        </p:txBody>
      </p:sp>
    </p:spTree>
    <p:extLst>
      <p:ext uri="{BB962C8B-B14F-4D97-AF65-F5344CB8AC3E}">
        <p14:creationId xmlns:p14="http://schemas.microsoft.com/office/powerpoint/2010/main" val="32628318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A62BB-8F8F-5EBB-458D-420A20C6BBC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04F0523-36AE-99A8-4D27-260AA38F681E}"/>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0" y="-7619"/>
            <a:ext cx="14020800" cy="1295400"/>
          </a:xfrm>
          <a:prstGeom prst="rect">
            <a:avLst/>
          </a:prstGeom>
        </p:spPr>
      </p:pic>
      <p:sp>
        <p:nvSpPr>
          <p:cNvPr id="7" name="TextBox 4">
            <a:extLst>
              <a:ext uri="{FF2B5EF4-FFF2-40B4-BE49-F238E27FC236}">
                <a16:creationId xmlns:a16="http://schemas.microsoft.com/office/drawing/2014/main" id="{6015FF7F-89F3-3B2E-1495-1562B49F5B2D}"/>
              </a:ext>
            </a:extLst>
          </p:cNvPr>
          <p:cNvSpPr txBox="1"/>
          <p:nvPr/>
        </p:nvSpPr>
        <p:spPr>
          <a:xfrm>
            <a:off x="76200" y="-38100"/>
            <a:ext cx="16687800" cy="1461939"/>
          </a:xfrm>
          <a:prstGeom prst="rect">
            <a:avLst/>
          </a:prstGeom>
        </p:spPr>
        <p:txBody>
          <a:bodyPr wrap="square" lIns="0" tIns="0" rIns="0" bIns="0" rtlCol="0" anchor="ctr">
            <a:spAutoFit/>
          </a:bodyPr>
          <a:lstStyle/>
          <a:p>
            <a:pPr>
              <a:lnSpc>
                <a:spcPts val="11423"/>
              </a:lnSpc>
            </a:pPr>
            <a:r>
              <a:rPr lang="en-US" sz="8000" b="1" dirty="0">
                <a:solidFill>
                  <a:srgbClr val="070707"/>
                </a:solidFill>
                <a:latin typeface="Aparajita" panose="02020603050405020304" pitchFamily="18" charset="0"/>
                <a:ea typeface="ADLaM Display" panose="020F0502020204030204" pitchFamily="2" charset="0"/>
                <a:cs typeface="Aparajita" panose="02020603050405020304" pitchFamily="18" charset="0"/>
                <a:sym typeface="Neue Machina Ultra-Bold"/>
              </a:rPr>
              <a:t>Project Overview &amp; Problem statement</a:t>
            </a:r>
          </a:p>
        </p:txBody>
      </p:sp>
      <p:sp>
        <p:nvSpPr>
          <p:cNvPr id="5" name="TextBox 5"/>
          <p:cNvSpPr txBox="1"/>
          <p:nvPr/>
        </p:nvSpPr>
        <p:spPr>
          <a:xfrm>
            <a:off x="149466" y="2350109"/>
            <a:ext cx="9223134" cy="1846659"/>
          </a:xfrm>
          <a:prstGeom prst="rect">
            <a:avLst/>
          </a:prstGeom>
        </p:spPr>
        <p:txBody>
          <a:bodyPr wrap="square" lIns="0" tIns="0" rIns="0" bIns="0" rtlCol="0" anchor="t">
            <a:spAutoFit/>
          </a:bodyPr>
          <a:lstStyle/>
          <a:p>
            <a:pPr marL="311975" lvl="1" algn="just"/>
            <a:r>
              <a:rPr lang="en-US" sz="2400" dirty="0">
                <a:solidFill>
                  <a:srgbClr val="010101"/>
                </a:solidFill>
                <a:latin typeface="Aparajita" panose="02020603050405020304" pitchFamily="18" charset="0"/>
                <a:ea typeface="Open Sauce"/>
                <a:cs typeface="Aparajita" panose="02020603050405020304" pitchFamily="18" charset="0"/>
                <a:sym typeface="Open Sauce"/>
              </a:rPr>
              <a:t>Synergy’s client wants to analyze customer transaction data (like deposits, withdrawals, and UPI payments) to generate insights such as spending patterns and peak transaction hours. Currently, this data is siloed across different sources (core banking systems, mobile app logs, and transaction history).  This aims to build Azure Data Engineering services  that can centralize, clean, and analyze customer data efficiently. </a:t>
            </a:r>
          </a:p>
        </p:txBody>
      </p:sp>
      <p:sp>
        <p:nvSpPr>
          <p:cNvPr id="2" name="TextBox 5"/>
          <p:cNvSpPr txBox="1"/>
          <p:nvPr/>
        </p:nvSpPr>
        <p:spPr>
          <a:xfrm>
            <a:off x="10959551" y="2393097"/>
            <a:ext cx="6427298" cy="2154436"/>
          </a:xfrm>
          <a:prstGeom prst="rect">
            <a:avLst/>
          </a:prstGeom>
        </p:spPr>
        <p:txBody>
          <a:bodyPr wrap="square" lIns="0" tIns="0" rIns="0" bIns="0" rtlCol="0" anchor="t">
            <a:spAutoFit/>
          </a:bodyPr>
          <a:lstStyle/>
          <a:p>
            <a:pPr marL="335510" lvl="1" algn="l"/>
            <a:r>
              <a:rPr lang="en-US" sz="2800" dirty="0">
                <a:solidFill>
                  <a:srgbClr val="010101"/>
                </a:solidFill>
                <a:latin typeface="Aparajita" panose="02020603050405020304" pitchFamily="18" charset="0"/>
                <a:ea typeface="Open Sauce"/>
                <a:cs typeface="Aparajita" panose="02020603050405020304" pitchFamily="18" charset="0"/>
                <a:sym typeface="Open Sauce"/>
              </a:rPr>
              <a:t>Synergy’s client generates massive volumes of transaction data daily across multiple channels such as: Core banking systems (deposits, withdrawals), Mobile banking apps (UPI, bill payments), ATM and POS systems </a:t>
            </a:r>
          </a:p>
        </p:txBody>
      </p:sp>
      <p:grpSp>
        <p:nvGrpSpPr>
          <p:cNvPr id="8" name="Group 4">
            <a:extLst>
              <a:ext uri="{FF2B5EF4-FFF2-40B4-BE49-F238E27FC236}">
                <a16:creationId xmlns:a16="http://schemas.microsoft.com/office/drawing/2014/main" id="{D8FE6CCC-CA0A-C389-65E5-4D8AA34AC49E}"/>
              </a:ext>
            </a:extLst>
          </p:cNvPr>
          <p:cNvGrpSpPr/>
          <p:nvPr/>
        </p:nvGrpSpPr>
        <p:grpSpPr>
          <a:xfrm>
            <a:off x="0" y="1287781"/>
            <a:ext cx="18318125" cy="57019"/>
            <a:chOff x="0" y="0"/>
            <a:chExt cx="9185420" cy="169434"/>
          </a:xfrm>
          <a:solidFill>
            <a:schemeClr val="accent2">
              <a:lumMod val="60000"/>
              <a:lumOff val="40000"/>
            </a:schemeClr>
          </a:solidFill>
        </p:grpSpPr>
        <p:sp>
          <p:nvSpPr>
            <p:cNvPr id="9" name="Freeform 5">
              <a:extLst>
                <a:ext uri="{FF2B5EF4-FFF2-40B4-BE49-F238E27FC236}">
                  <a16:creationId xmlns:a16="http://schemas.microsoft.com/office/drawing/2014/main" id="{2D5347C1-E189-0228-3703-E0B77F8A78E8}"/>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pic>
        <p:nvPicPr>
          <p:cNvPr id="10" name="Picture 2" descr="logo">
            <a:extLst>
              <a:ext uri="{FF2B5EF4-FFF2-40B4-BE49-F238E27FC236}">
                <a16:creationId xmlns:a16="http://schemas.microsoft.com/office/drawing/2014/main" id="{80C8BF5F-B9AE-39D2-0487-D4D2BEB30A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119217"/>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09B6AC8-D0B6-D6A9-2165-B1537911BF17}"/>
              </a:ext>
            </a:extLst>
          </p:cNvPr>
          <p:cNvSpPr txBox="1"/>
          <p:nvPr/>
        </p:nvSpPr>
        <p:spPr>
          <a:xfrm>
            <a:off x="299862" y="1598151"/>
            <a:ext cx="4195938" cy="830997"/>
          </a:xfrm>
          <a:prstGeom prst="rect">
            <a:avLst/>
          </a:prstGeom>
          <a:noFill/>
        </p:spPr>
        <p:txBody>
          <a:bodyPr wrap="square">
            <a:spAutoFit/>
          </a:bodyPr>
          <a:lstStyle/>
          <a:p>
            <a:r>
              <a:rPr lang="en-US" sz="4800" b="1" dirty="0">
                <a:solidFill>
                  <a:srgbClr val="070707"/>
                </a:solidFill>
                <a:latin typeface="Aparajita" panose="02020603050405020304" pitchFamily="18" charset="0"/>
                <a:ea typeface="ADLaM Display" panose="020F0502020204030204" pitchFamily="2" charset="0"/>
                <a:cs typeface="Aparajita" panose="02020603050405020304" pitchFamily="18" charset="0"/>
                <a:sym typeface="Neue Machina Ultra-Bold"/>
              </a:rPr>
              <a:t>Project Overview </a:t>
            </a:r>
            <a:endParaRPr lang="en-US" sz="6600" baseline="-25000" dirty="0"/>
          </a:p>
        </p:txBody>
      </p:sp>
      <p:sp>
        <p:nvSpPr>
          <p:cNvPr id="16" name="TextBox 15">
            <a:extLst>
              <a:ext uri="{FF2B5EF4-FFF2-40B4-BE49-F238E27FC236}">
                <a16:creationId xmlns:a16="http://schemas.microsoft.com/office/drawing/2014/main" id="{8A2AAEF5-2E44-75CA-9178-83AB914DA18F}"/>
              </a:ext>
            </a:extLst>
          </p:cNvPr>
          <p:cNvSpPr txBox="1"/>
          <p:nvPr/>
        </p:nvSpPr>
        <p:spPr>
          <a:xfrm>
            <a:off x="11190535" y="1562100"/>
            <a:ext cx="4959995" cy="830997"/>
          </a:xfrm>
          <a:prstGeom prst="rect">
            <a:avLst/>
          </a:prstGeom>
          <a:noFill/>
        </p:spPr>
        <p:txBody>
          <a:bodyPr wrap="square">
            <a:spAutoFit/>
          </a:bodyPr>
          <a:lstStyle/>
          <a:p>
            <a:r>
              <a:rPr lang="en-US" sz="4800" b="1" dirty="0">
                <a:solidFill>
                  <a:srgbClr val="070707"/>
                </a:solidFill>
                <a:latin typeface="Aparajita" panose="02020603050405020304" pitchFamily="18" charset="0"/>
                <a:ea typeface="ADLaM Display" panose="020F0502020204030204" pitchFamily="2" charset="0"/>
                <a:cs typeface="Aparajita" panose="02020603050405020304" pitchFamily="18" charset="0"/>
                <a:sym typeface="Neue Machina Ultra-Bold"/>
              </a:rPr>
              <a:t>Problem statement</a:t>
            </a:r>
            <a:endParaRPr lang="en-US" sz="4800" dirty="0"/>
          </a:p>
        </p:txBody>
      </p:sp>
      <p:grpSp>
        <p:nvGrpSpPr>
          <p:cNvPr id="17" name="Group 4">
            <a:extLst>
              <a:ext uri="{FF2B5EF4-FFF2-40B4-BE49-F238E27FC236}">
                <a16:creationId xmlns:a16="http://schemas.microsoft.com/office/drawing/2014/main" id="{5E1FA509-5D8D-61C8-5C80-6E939641DB01}"/>
              </a:ext>
            </a:extLst>
          </p:cNvPr>
          <p:cNvGrpSpPr/>
          <p:nvPr/>
        </p:nvGrpSpPr>
        <p:grpSpPr>
          <a:xfrm flipH="1">
            <a:off x="10228238" y="1344800"/>
            <a:ext cx="61466" cy="8942200"/>
            <a:chOff x="5296240" y="-3925300"/>
            <a:chExt cx="22926" cy="27624660"/>
          </a:xfrm>
          <a:solidFill>
            <a:schemeClr val="accent2">
              <a:lumMod val="60000"/>
              <a:lumOff val="40000"/>
            </a:schemeClr>
          </a:solidFill>
        </p:grpSpPr>
        <p:sp>
          <p:nvSpPr>
            <p:cNvPr id="18" name="Freeform 5">
              <a:extLst>
                <a:ext uri="{FF2B5EF4-FFF2-40B4-BE49-F238E27FC236}">
                  <a16:creationId xmlns:a16="http://schemas.microsoft.com/office/drawing/2014/main" id="{12242898-5789-7FC0-21DD-7783BBA6CD73}"/>
                </a:ext>
              </a:extLst>
            </p:cNvPr>
            <p:cNvSpPr/>
            <p:nvPr/>
          </p:nvSpPr>
          <p:spPr>
            <a:xfrm rot="5400000" flipV="1">
              <a:off x="-8504627" y="9875567"/>
              <a:ext cx="27624660" cy="22926"/>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dirty="0"/>
            </a:p>
          </p:txBody>
        </p:sp>
      </p:grpSp>
      <p:sp>
        <p:nvSpPr>
          <p:cNvPr id="20" name="Freeform 5">
            <a:extLst>
              <a:ext uri="{FF2B5EF4-FFF2-40B4-BE49-F238E27FC236}">
                <a16:creationId xmlns:a16="http://schemas.microsoft.com/office/drawing/2014/main" id="{11BA3B3B-0A1A-8E11-05C6-1C9248B6B249}"/>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sp>
        <p:nvSpPr>
          <p:cNvPr id="23" name="TextBox 22">
            <a:extLst>
              <a:ext uri="{FF2B5EF4-FFF2-40B4-BE49-F238E27FC236}">
                <a16:creationId xmlns:a16="http://schemas.microsoft.com/office/drawing/2014/main" id="{6F2BF454-C12A-3C92-8742-D46EC2BDE465}"/>
              </a:ext>
            </a:extLst>
          </p:cNvPr>
          <p:cNvSpPr txBox="1"/>
          <p:nvPr/>
        </p:nvSpPr>
        <p:spPr>
          <a:xfrm>
            <a:off x="381000" y="4575769"/>
            <a:ext cx="5943600" cy="4278094"/>
          </a:xfrm>
          <a:prstGeom prst="rect">
            <a:avLst/>
          </a:prstGeom>
          <a:noFill/>
        </p:spPr>
        <p:txBody>
          <a:bodyPr wrap="square" rtlCol="0">
            <a:spAutoFit/>
          </a:bodyPr>
          <a:lstStyle/>
          <a:p>
            <a:r>
              <a:rPr lang="en-US" sz="4800" b="1" dirty="0">
                <a:latin typeface="Aparajita" panose="02020603050405020304" pitchFamily="18" charset="0"/>
                <a:cs typeface="Aparajita" panose="02020603050405020304" pitchFamily="18" charset="0"/>
              </a:rPr>
              <a:t>Current Challenges: </a:t>
            </a:r>
            <a:endParaRPr lang="en-US" sz="2800" dirty="0">
              <a:latin typeface="Aparajita" panose="02020603050405020304" pitchFamily="18" charset="0"/>
              <a:cs typeface="Aparajita" panose="02020603050405020304" pitchFamily="18" charset="0"/>
            </a:endParaRPr>
          </a:p>
          <a:p>
            <a:pPr marL="457200" indent="-457200">
              <a:buFont typeface="Arial" panose="020B0604020202020204" pitchFamily="34" charset="0"/>
              <a:buChar char="•"/>
            </a:pPr>
            <a:r>
              <a:rPr lang="en-US" sz="2800" dirty="0">
                <a:latin typeface="Aparajita" panose="02020603050405020304" pitchFamily="18" charset="0"/>
                <a:cs typeface="Aparajita" panose="02020603050405020304" pitchFamily="18" charset="0"/>
              </a:rPr>
              <a:t>Data is siloed across disparate systems. </a:t>
            </a:r>
          </a:p>
          <a:p>
            <a:pPr marL="457200" indent="-457200">
              <a:buFont typeface="Arial" panose="020B0604020202020204" pitchFamily="34" charset="0"/>
              <a:buChar char="•"/>
            </a:pPr>
            <a:r>
              <a:rPr lang="en-US" sz="2800" dirty="0">
                <a:latin typeface="Aparajita" panose="02020603050405020304" pitchFamily="18" charset="0"/>
                <a:cs typeface="Aparajita" panose="02020603050405020304" pitchFamily="18" charset="0"/>
              </a:rPr>
              <a:t>No unified view of customer transactions.</a:t>
            </a:r>
          </a:p>
          <a:p>
            <a:pPr marL="457200" indent="-457200">
              <a:buFont typeface="Arial" panose="020B0604020202020204" pitchFamily="34" charset="0"/>
              <a:buChar char="•"/>
            </a:pPr>
            <a:r>
              <a:rPr lang="en-US" sz="2800" dirty="0">
                <a:latin typeface="Aparajita" panose="02020603050405020304" pitchFamily="18" charset="0"/>
                <a:cs typeface="Aparajita" panose="02020603050405020304" pitchFamily="18" charset="0"/>
              </a:rPr>
              <a:t>Difficult to analyze spending behavior &amp; trends.</a:t>
            </a:r>
          </a:p>
          <a:p>
            <a:pPr marL="457200" indent="-457200">
              <a:buFont typeface="Arial" panose="020B0604020202020204" pitchFamily="34" charset="0"/>
              <a:buChar char="•"/>
            </a:pPr>
            <a:r>
              <a:rPr lang="en-US" sz="2800" dirty="0">
                <a:latin typeface="Aparajita" panose="02020603050405020304" pitchFamily="18" charset="0"/>
                <a:cs typeface="Aparajita" panose="02020603050405020304" pitchFamily="18" charset="0"/>
              </a:rPr>
              <a:t>Limited ability to detect peak transaction hours.</a:t>
            </a:r>
          </a:p>
          <a:p>
            <a:pPr marL="457200" indent="-457200">
              <a:buFont typeface="Arial" panose="020B0604020202020204" pitchFamily="34" charset="0"/>
              <a:buChar char="•"/>
            </a:pPr>
            <a:r>
              <a:rPr lang="en-US" sz="2800" dirty="0">
                <a:latin typeface="Aparajita" panose="02020603050405020304" pitchFamily="18" charset="0"/>
                <a:cs typeface="Aparajita" panose="02020603050405020304" pitchFamily="18" charset="0"/>
              </a:rPr>
              <a:t>Lack of near real-time insights for business decisions.</a:t>
            </a:r>
          </a:p>
        </p:txBody>
      </p:sp>
      <p:sp>
        <p:nvSpPr>
          <p:cNvPr id="24" name="TextBox 23">
            <a:extLst>
              <a:ext uri="{FF2B5EF4-FFF2-40B4-BE49-F238E27FC236}">
                <a16:creationId xmlns:a16="http://schemas.microsoft.com/office/drawing/2014/main" id="{C4E130CD-A6DE-6071-1401-815461247912}"/>
              </a:ext>
            </a:extLst>
          </p:cNvPr>
          <p:cNvSpPr txBox="1"/>
          <p:nvPr/>
        </p:nvSpPr>
        <p:spPr>
          <a:xfrm>
            <a:off x="11278767" y="4617826"/>
            <a:ext cx="4949006" cy="4708981"/>
          </a:xfrm>
          <a:prstGeom prst="rect">
            <a:avLst/>
          </a:prstGeom>
          <a:noFill/>
        </p:spPr>
        <p:txBody>
          <a:bodyPr wrap="square" rtlCol="0">
            <a:spAutoFit/>
          </a:bodyPr>
          <a:lstStyle/>
          <a:p>
            <a:pPr fontAlgn="base"/>
            <a:r>
              <a:rPr lang="en-IN" sz="4800" b="1" dirty="0">
                <a:latin typeface="Aparajita" panose="02020603050405020304" pitchFamily="18" charset="0"/>
                <a:cs typeface="Aparajita" panose="02020603050405020304" pitchFamily="18" charset="0"/>
              </a:rPr>
              <a:t>Objectives –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Consolidate all transaction data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Enable real-time &amp; batch analytics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Generate actionable insights like: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Customer spending patterns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Peak transaction times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Channel-wise usage (UPI vs ATM vs Net Banking)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Fraud/anomaly detection signals </a:t>
            </a:r>
          </a:p>
          <a:p>
            <a:pPr marL="342900" indent="-342900" fontAlgn="base">
              <a:buFont typeface="Arial" panose="020B0604020202020204" pitchFamily="34" charset="0"/>
              <a:buChar char="•"/>
            </a:pPr>
            <a:r>
              <a:rPr lang="en-IN" sz="2400" dirty="0">
                <a:latin typeface="Aparajita" panose="02020603050405020304" pitchFamily="18" charset="0"/>
                <a:cs typeface="Aparajita" panose="02020603050405020304" pitchFamily="18" charset="0"/>
              </a:rPr>
              <a:t>Integrates with existing banking systems </a:t>
            </a:r>
          </a:p>
          <a:p>
            <a:pPr fontAlgn="base"/>
            <a:r>
              <a:rPr lang="en-IN" dirty="0">
                <a:latin typeface="Aparajita" panose="02020603050405020304" pitchFamily="18" charset="0"/>
                <a:cs typeface="Aparajita" panose="02020603050405020304" pitchFamily="18" charset="0"/>
              </a:rPr>
              <a:t> </a:t>
            </a:r>
          </a:p>
          <a:p>
            <a:endParaRPr lang="en-US"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2071262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934327-551D-6CEA-F012-17467C26CFDE}"/>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0" y="0"/>
            <a:ext cx="14020800" cy="1295400"/>
          </a:xfrm>
          <a:prstGeom prst="rect">
            <a:avLst/>
          </a:prstGeom>
        </p:spPr>
      </p:pic>
      <p:sp>
        <p:nvSpPr>
          <p:cNvPr id="5" name="TextBox 5"/>
          <p:cNvSpPr txBox="1"/>
          <p:nvPr/>
        </p:nvSpPr>
        <p:spPr>
          <a:xfrm>
            <a:off x="719949" y="141018"/>
            <a:ext cx="10995955" cy="1231106"/>
          </a:xfrm>
          <a:prstGeom prst="rect">
            <a:avLst/>
          </a:prstGeom>
        </p:spPr>
        <p:txBody>
          <a:bodyPr lIns="0" tIns="0" rIns="0" bIns="0" rtlCol="0" anchor="t">
            <a:spAutoFit/>
          </a:bodyPr>
          <a:lstStyle/>
          <a:p>
            <a:pPr algn="l">
              <a:lnSpc>
                <a:spcPts val="9599"/>
              </a:lnSpc>
            </a:pPr>
            <a:r>
              <a:rPr lang="en-US" sz="7999" b="1" dirty="0">
                <a:solidFill>
                  <a:srgbClr val="010101"/>
                </a:solidFill>
                <a:latin typeface="Aparajita" panose="02020603050405020304" pitchFamily="18" charset="0"/>
                <a:ea typeface="Telegraf Bold"/>
                <a:cs typeface="Aparajita" panose="02020603050405020304" pitchFamily="18" charset="0"/>
                <a:sym typeface="Telegraf Bold"/>
              </a:rPr>
              <a:t>Proposed Solution (MVP)</a:t>
            </a:r>
          </a:p>
        </p:txBody>
      </p:sp>
      <p:pic>
        <p:nvPicPr>
          <p:cNvPr id="3" name="Picture 2" descr="logo">
            <a:extLst>
              <a:ext uri="{FF2B5EF4-FFF2-40B4-BE49-F238E27FC236}">
                <a16:creationId xmlns:a16="http://schemas.microsoft.com/office/drawing/2014/main" id="{6F245664-A721-9A13-41CA-B74636BBCD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119217"/>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nvGrpSpPr>
          <p:cNvPr id="7" name="Group 4">
            <a:extLst>
              <a:ext uri="{FF2B5EF4-FFF2-40B4-BE49-F238E27FC236}">
                <a16:creationId xmlns:a16="http://schemas.microsoft.com/office/drawing/2014/main" id="{4298FA0E-F231-F80C-086E-5AD7A4CF1189}"/>
              </a:ext>
            </a:extLst>
          </p:cNvPr>
          <p:cNvGrpSpPr/>
          <p:nvPr/>
        </p:nvGrpSpPr>
        <p:grpSpPr>
          <a:xfrm>
            <a:off x="0" y="1287781"/>
            <a:ext cx="18318125" cy="57019"/>
            <a:chOff x="0" y="0"/>
            <a:chExt cx="9185420" cy="169434"/>
          </a:xfrm>
          <a:solidFill>
            <a:schemeClr val="accent2">
              <a:lumMod val="60000"/>
              <a:lumOff val="40000"/>
            </a:schemeClr>
          </a:solidFill>
        </p:grpSpPr>
        <p:sp>
          <p:nvSpPr>
            <p:cNvPr id="8" name="Freeform 5">
              <a:extLst>
                <a:ext uri="{FF2B5EF4-FFF2-40B4-BE49-F238E27FC236}">
                  <a16:creationId xmlns:a16="http://schemas.microsoft.com/office/drawing/2014/main" id="{E2E7B521-EAA4-259C-0EC1-8626DCD5B5A5}"/>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9" name="Freeform 5">
            <a:extLst>
              <a:ext uri="{FF2B5EF4-FFF2-40B4-BE49-F238E27FC236}">
                <a16:creationId xmlns:a16="http://schemas.microsoft.com/office/drawing/2014/main" id="{395511AA-F71C-F979-AAE7-56E4469C6D0B}"/>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sp>
        <p:nvSpPr>
          <p:cNvPr id="12" name="TextBox 11">
            <a:extLst>
              <a:ext uri="{FF2B5EF4-FFF2-40B4-BE49-F238E27FC236}">
                <a16:creationId xmlns:a16="http://schemas.microsoft.com/office/drawing/2014/main" id="{CBB2B950-D7CC-5AF9-2CDC-7238C2C05D65}"/>
              </a:ext>
            </a:extLst>
          </p:cNvPr>
          <p:cNvSpPr txBox="1"/>
          <p:nvPr/>
        </p:nvSpPr>
        <p:spPr>
          <a:xfrm>
            <a:off x="152400" y="1104900"/>
            <a:ext cx="9753600" cy="8956298"/>
          </a:xfrm>
          <a:prstGeom prst="rect">
            <a:avLst/>
          </a:prstGeom>
          <a:noFill/>
        </p:spPr>
        <p:txBody>
          <a:bodyPr wrap="square" rtlCol="0">
            <a:spAutoFit/>
          </a:bodyPr>
          <a:lstStyle/>
          <a:p>
            <a:pPr fontAlgn="base"/>
            <a:r>
              <a:rPr lang="en-US" sz="3200" dirty="0">
                <a:latin typeface="Aparajita" panose="02020603050405020304" pitchFamily="18" charset="0"/>
                <a:cs typeface="Aparajita" panose="02020603050405020304" pitchFamily="18" charset="0"/>
              </a:rPr>
              <a:t>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Centralizing transaction data from multiple sources (Core Banking, Mobile Apps, UPI)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Ingesting data in batch using Azure Data Factory.</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Storing data in a scalable data lake using Azure Data Lake Storage Gen2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Performing data cleaning, transformation, and enrichment using Azure Data factory.</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Structuring and modeling data using Azure Synapse Analytics for analytics readiness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Building a data warehouse for efficient querying and data access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Generating insights using Power BI (customer behavior, trends, peak usage)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Ensuring data governance and security using Azure Purview and Azure Active Directory  </a:t>
            </a:r>
          </a:p>
          <a:p>
            <a:pPr marL="285750" indent="-285750" fontAlgn="base">
              <a:buFont typeface="Arial" panose="020B0604020202020204" pitchFamily="34" charset="0"/>
              <a:buChar char="•"/>
            </a:pPr>
            <a:r>
              <a:rPr lang="en-US" sz="3200" dirty="0">
                <a:latin typeface="Aparajita" panose="02020603050405020304" pitchFamily="18" charset="0"/>
                <a:cs typeface="Aparajita" panose="02020603050405020304" pitchFamily="18" charset="0"/>
              </a:rPr>
              <a:t>Enabling scalable, real-time, and data-driven decision-making </a:t>
            </a:r>
          </a:p>
          <a:p>
            <a:pPr fontAlgn="base"/>
            <a:r>
              <a:rPr lang="en-US" sz="3200" dirty="0">
                <a:latin typeface="Aparajita" panose="02020603050405020304" pitchFamily="18" charset="0"/>
                <a:cs typeface="Aparajita" panose="02020603050405020304" pitchFamily="18" charset="0"/>
              </a:rPr>
              <a:t> </a:t>
            </a:r>
          </a:p>
          <a:p>
            <a:endParaRPr lang="en-US" sz="3200" dirty="0">
              <a:latin typeface="Aparajita" panose="02020603050405020304" pitchFamily="18" charset="0"/>
              <a:cs typeface="Aparajita" panose="02020603050405020304" pitchFamily="18" charset="0"/>
            </a:endParaRPr>
          </a:p>
        </p:txBody>
      </p:sp>
      <p:pic>
        <p:nvPicPr>
          <p:cNvPr id="6" name="Picture 5">
            <a:extLst>
              <a:ext uri="{FF2B5EF4-FFF2-40B4-BE49-F238E27FC236}">
                <a16:creationId xmlns:a16="http://schemas.microsoft.com/office/drawing/2014/main" id="{3D3D0C5B-90E3-1E2E-D882-DE8AC560D8D2}"/>
              </a:ext>
            </a:extLst>
          </p:cNvPr>
          <p:cNvPicPr>
            <a:picLocks noChangeAspect="1"/>
          </p:cNvPicPr>
          <p:nvPr/>
        </p:nvPicPr>
        <p:blipFill>
          <a:blip r:embed="rId4"/>
          <a:stretch>
            <a:fillRect/>
          </a:stretch>
        </p:blipFill>
        <p:spPr>
          <a:xfrm>
            <a:off x="11125199" y="1867109"/>
            <a:ext cx="6470439" cy="71321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A64304-AD75-1E67-901D-043A416923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7A6BD2F-59FD-DCC9-1733-8E2F27430DBA}"/>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0" y="0"/>
            <a:ext cx="14020800" cy="1295400"/>
          </a:xfrm>
          <a:prstGeom prst="rect">
            <a:avLst/>
          </a:prstGeom>
        </p:spPr>
      </p:pic>
      <p:sp>
        <p:nvSpPr>
          <p:cNvPr id="5" name="TextBox 5">
            <a:extLst>
              <a:ext uri="{FF2B5EF4-FFF2-40B4-BE49-F238E27FC236}">
                <a16:creationId xmlns:a16="http://schemas.microsoft.com/office/drawing/2014/main" id="{15325D89-9906-587C-314F-533C8CE4FFAC}"/>
              </a:ext>
            </a:extLst>
          </p:cNvPr>
          <p:cNvSpPr txBox="1"/>
          <p:nvPr/>
        </p:nvSpPr>
        <p:spPr>
          <a:xfrm>
            <a:off x="438026" y="85184"/>
            <a:ext cx="14020800" cy="1231106"/>
          </a:xfrm>
          <a:prstGeom prst="rect">
            <a:avLst/>
          </a:prstGeom>
        </p:spPr>
        <p:txBody>
          <a:bodyPr wrap="square" lIns="0" tIns="0" rIns="0" bIns="0" rtlCol="0" anchor="t">
            <a:spAutoFit/>
          </a:bodyPr>
          <a:lstStyle/>
          <a:p>
            <a:pPr algn="l">
              <a:lnSpc>
                <a:spcPts val="9599"/>
              </a:lnSpc>
            </a:pPr>
            <a:r>
              <a:rPr lang="en-US" sz="8000" b="1" dirty="0">
                <a:solidFill>
                  <a:srgbClr val="010101"/>
                </a:solidFill>
                <a:latin typeface="Aparajita" panose="02020603050405020304" pitchFamily="18" charset="0"/>
                <a:ea typeface="Telegraf Bold"/>
                <a:cs typeface="Aparajita" panose="02020603050405020304" pitchFamily="18" charset="0"/>
                <a:sym typeface="Telegraf Bold"/>
              </a:rPr>
              <a:t>MVP - Sprint wise report</a:t>
            </a:r>
          </a:p>
        </p:txBody>
      </p:sp>
      <p:pic>
        <p:nvPicPr>
          <p:cNvPr id="3" name="Picture 2" descr="logo">
            <a:extLst>
              <a:ext uri="{FF2B5EF4-FFF2-40B4-BE49-F238E27FC236}">
                <a16:creationId xmlns:a16="http://schemas.microsoft.com/office/drawing/2014/main" id="{7577245B-F9B0-B7E7-EEC1-7E461BE5E9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119217"/>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nvGrpSpPr>
          <p:cNvPr id="7" name="Group 4">
            <a:extLst>
              <a:ext uri="{FF2B5EF4-FFF2-40B4-BE49-F238E27FC236}">
                <a16:creationId xmlns:a16="http://schemas.microsoft.com/office/drawing/2014/main" id="{AFC5C73D-CD4F-509D-DE5E-550615BD027F}"/>
              </a:ext>
            </a:extLst>
          </p:cNvPr>
          <p:cNvGrpSpPr/>
          <p:nvPr/>
        </p:nvGrpSpPr>
        <p:grpSpPr>
          <a:xfrm>
            <a:off x="0" y="1287781"/>
            <a:ext cx="18318125" cy="57019"/>
            <a:chOff x="0" y="0"/>
            <a:chExt cx="9185420" cy="169434"/>
          </a:xfrm>
          <a:solidFill>
            <a:schemeClr val="accent2">
              <a:lumMod val="60000"/>
              <a:lumOff val="40000"/>
            </a:schemeClr>
          </a:solidFill>
        </p:grpSpPr>
        <p:sp>
          <p:nvSpPr>
            <p:cNvPr id="8" name="Freeform 5">
              <a:extLst>
                <a:ext uri="{FF2B5EF4-FFF2-40B4-BE49-F238E27FC236}">
                  <a16:creationId xmlns:a16="http://schemas.microsoft.com/office/drawing/2014/main" id="{6BF0E45E-CB7B-2035-CA79-FCF6C037E924}"/>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9" name="Freeform 5">
            <a:extLst>
              <a:ext uri="{FF2B5EF4-FFF2-40B4-BE49-F238E27FC236}">
                <a16:creationId xmlns:a16="http://schemas.microsoft.com/office/drawing/2014/main" id="{70F8E5EB-F194-E1E9-4E5E-FEB5F5E693A6}"/>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graphicFrame>
        <p:nvGraphicFramePr>
          <p:cNvPr id="4" name="Table 3">
            <a:extLst>
              <a:ext uri="{FF2B5EF4-FFF2-40B4-BE49-F238E27FC236}">
                <a16:creationId xmlns:a16="http://schemas.microsoft.com/office/drawing/2014/main" id="{24A43664-091E-5CDE-11BA-9E828F31EE88}"/>
              </a:ext>
            </a:extLst>
          </p:cNvPr>
          <p:cNvGraphicFramePr>
            <a:graphicFrameLocks noGrp="1"/>
          </p:cNvGraphicFramePr>
          <p:nvPr>
            <p:extLst>
              <p:ext uri="{D42A27DB-BD31-4B8C-83A1-F6EECF244321}">
                <p14:modId xmlns:p14="http://schemas.microsoft.com/office/powerpoint/2010/main" val="4133649166"/>
              </p:ext>
            </p:extLst>
          </p:nvPr>
        </p:nvGraphicFramePr>
        <p:xfrm>
          <a:off x="273434" y="1407331"/>
          <a:ext cx="17741132" cy="7955280"/>
        </p:xfrm>
        <a:graphic>
          <a:graphicData uri="http://schemas.openxmlformats.org/drawingml/2006/table">
            <a:tbl>
              <a:tblPr firstRow="1" bandRow="1">
                <a:tableStyleId>{5940675A-B579-460E-94D1-54222C63F5DA}</a:tableStyleId>
              </a:tblPr>
              <a:tblGrid>
                <a:gridCol w="4435283">
                  <a:extLst>
                    <a:ext uri="{9D8B030D-6E8A-4147-A177-3AD203B41FA5}">
                      <a16:colId xmlns:a16="http://schemas.microsoft.com/office/drawing/2014/main" val="667207119"/>
                    </a:ext>
                  </a:extLst>
                </a:gridCol>
                <a:gridCol w="4435283">
                  <a:extLst>
                    <a:ext uri="{9D8B030D-6E8A-4147-A177-3AD203B41FA5}">
                      <a16:colId xmlns:a16="http://schemas.microsoft.com/office/drawing/2014/main" val="3168657933"/>
                    </a:ext>
                  </a:extLst>
                </a:gridCol>
                <a:gridCol w="4435283">
                  <a:extLst>
                    <a:ext uri="{9D8B030D-6E8A-4147-A177-3AD203B41FA5}">
                      <a16:colId xmlns:a16="http://schemas.microsoft.com/office/drawing/2014/main" val="3563865964"/>
                    </a:ext>
                  </a:extLst>
                </a:gridCol>
                <a:gridCol w="4435283">
                  <a:extLst>
                    <a:ext uri="{9D8B030D-6E8A-4147-A177-3AD203B41FA5}">
                      <a16:colId xmlns:a16="http://schemas.microsoft.com/office/drawing/2014/main" val="2085170177"/>
                    </a:ext>
                  </a:extLst>
                </a:gridCol>
              </a:tblGrid>
              <a:tr h="11897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rPr>
                        <a:t>SPRINT 0 – TRAINING PHASE</a:t>
                      </a:r>
                      <a:endParaRPr kumimoji="0" lang="en-US" sz="2800" b="1" i="0" u="none" strike="noStrike" kern="1200" cap="none" spc="0" normalizeH="0" baseline="0" noProof="0" dirty="0">
                        <a:ln>
                          <a:noFill/>
                        </a:ln>
                        <a:solidFill>
                          <a:prstClr val="black"/>
                        </a:solidFill>
                        <a:effectLst/>
                        <a:uLnTx/>
                        <a:uFillTx/>
                        <a:latin typeface="Aparajita" panose="02020603050405020304" pitchFamily="18" charset="0"/>
                        <a:ea typeface="Telegraf Bold"/>
                        <a:cs typeface="Aparajita" panose="02020603050405020304" pitchFamily="18" charset="0"/>
                        <a:sym typeface="Telegraf Bold"/>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rPr>
                        <a:t>SPRINT 1 – </a:t>
                      </a:r>
                      <a:r>
                        <a:rPr kumimoji="0" lang="en-US" sz="24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rPr>
                        <a:t>REQUIREMENT UNDERSTANDING</a:t>
                      </a:r>
                    </a:p>
                    <a:p>
                      <a:endParaRPr lang="en-US" dirty="0">
                        <a:latin typeface="Aparajita" panose="02020603050405020304" pitchFamily="18" charset="0"/>
                        <a:cs typeface="Aparajita"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rPr>
                        <a:t>SPRINT 2 – DESIGN &amp; DOCUMENTATION</a:t>
                      </a:r>
                    </a:p>
                    <a:p>
                      <a:endParaRPr lang="en-US" dirty="0">
                        <a:latin typeface="Aparajita" panose="02020603050405020304" pitchFamily="18" charset="0"/>
                        <a:cs typeface="Aparajita"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sym typeface="Telegraf Bold"/>
                        </a:rPr>
                        <a:t>SPRINT 3 – INFRA CREATION &amp; DATA INGESTION</a:t>
                      </a:r>
                      <a:endParaRPr lang="en-US" dirty="0">
                        <a:latin typeface="Aparajita" panose="02020603050405020304" pitchFamily="18" charset="0"/>
                        <a:cs typeface="Aparajita" panose="02020603050405020304" pitchFamily="18" charset="0"/>
                      </a:endParaRPr>
                    </a:p>
                  </a:txBody>
                  <a:tcPr/>
                </a:tc>
                <a:extLst>
                  <a:ext uri="{0D108BD9-81ED-4DB2-BD59-A6C34878D82A}">
                    <a16:rowId xmlns:a16="http://schemas.microsoft.com/office/drawing/2014/main" val="2896794243"/>
                  </a:ext>
                </a:extLst>
              </a:tr>
              <a:tr h="6034238">
                <a:tc>
                  <a:txBody>
                    <a:bodyPr/>
                    <a:lstStyle/>
                    <a:p>
                      <a:pPr marL="633517" lvl="1" indent="-316758" algn="l">
                        <a:lnSpc>
                          <a:spcPct val="100000"/>
                        </a:lnSpc>
                        <a:buFont typeface="Arial"/>
                        <a:buChar char="•"/>
                      </a:pPr>
                      <a:r>
                        <a:rPr lang="en-US" sz="2700" dirty="0">
                          <a:solidFill>
                            <a:srgbClr val="010101"/>
                          </a:solidFill>
                          <a:latin typeface="Aparajita" panose="02020603050405020304" pitchFamily="18" charset="0"/>
                          <a:cs typeface="Aparajita" panose="02020603050405020304" pitchFamily="18" charset="0"/>
                          <a:sym typeface="Open Sauce"/>
                        </a:rPr>
                        <a:t>Started understanding on Azure cloud Data Engineer  fundamentals SERVICES.</a:t>
                      </a:r>
                    </a:p>
                    <a:p>
                      <a:pPr marL="633517" lvl="1" indent="-316758" algn="l">
                        <a:lnSpc>
                          <a:spcPct val="100000"/>
                        </a:lnSpc>
                        <a:buFont typeface="Arial"/>
                        <a:buChar char="•"/>
                      </a:pPr>
                      <a:r>
                        <a:rPr lang="en-US" sz="2700" dirty="0">
                          <a:solidFill>
                            <a:srgbClr val="010101"/>
                          </a:solidFill>
                          <a:latin typeface="Aparajita" panose="02020603050405020304" pitchFamily="18" charset="0"/>
                          <a:cs typeface="Aparajita" panose="02020603050405020304" pitchFamily="18" charset="0"/>
                          <a:sym typeface="Open Sauce"/>
                        </a:rPr>
                        <a:t>Gained foundational knowledge of SQL fundamentals.</a:t>
                      </a:r>
                    </a:p>
                    <a:p>
                      <a:pPr marL="633517" lvl="1" indent="-316758" algn="l">
                        <a:lnSpc>
                          <a:spcPct val="100000"/>
                        </a:lnSpc>
                        <a:buFont typeface="Arial"/>
                        <a:buChar char="•"/>
                      </a:pPr>
                      <a:r>
                        <a:rPr lang="en-US" sz="2700" dirty="0">
                          <a:solidFill>
                            <a:srgbClr val="010101"/>
                          </a:solidFill>
                          <a:latin typeface="Aparajita" panose="02020603050405020304" pitchFamily="18" charset="0"/>
                          <a:cs typeface="Aparajita" panose="02020603050405020304" pitchFamily="18" charset="0"/>
                          <a:sym typeface="Open Sauce"/>
                        </a:rPr>
                        <a:t>Built understanding of Azure cloud fundamentals</a:t>
                      </a:r>
                      <a:r>
                        <a:rPr lang="en-US" sz="2700" dirty="0">
                          <a:latin typeface="Aparajita" panose="02020603050405020304" pitchFamily="18" charset="0"/>
                          <a:cs typeface="Aparajita" panose="02020603050405020304" pitchFamily="18" charset="0"/>
                        </a:rPr>
                        <a:t>  </a:t>
                      </a:r>
                      <a:endParaRPr lang="en-US" sz="2700" dirty="0">
                        <a:solidFill>
                          <a:srgbClr val="010101"/>
                        </a:solidFill>
                        <a:latin typeface="Aparajita" panose="02020603050405020304" pitchFamily="18" charset="0"/>
                        <a:cs typeface="Aparajita" panose="02020603050405020304" pitchFamily="18" charset="0"/>
                        <a:sym typeface="Open Sauce"/>
                      </a:endParaRPr>
                    </a:p>
                    <a:p>
                      <a:pPr marL="633517" lvl="1" indent="-316758" algn="l">
                        <a:lnSpc>
                          <a:spcPct val="100000"/>
                        </a:lnSpc>
                        <a:buFont typeface="Arial"/>
                        <a:buChar char="•"/>
                      </a:pPr>
                      <a:r>
                        <a:rPr lang="en-US" sz="2700" dirty="0">
                          <a:solidFill>
                            <a:srgbClr val="010101"/>
                          </a:solidFill>
                          <a:latin typeface="Aparajita" panose="02020603050405020304" pitchFamily="18" charset="0"/>
                          <a:cs typeface="Aparajita" panose="02020603050405020304" pitchFamily="18" charset="0"/>
                          <a:sym typeface="Open Sauce"/>
                        </a:rPr>
                        <a:t>Solved query-based scenarios in SQL.</a:t>
                      </a:r>
                    </a:p>
                    <a:p>
                      <a:pPr marL="633517" lvl="1" indent="-316758" algn="l">
                        <a:lnSpc>
                          <a:spcPct val="100000"/>
                        </a:lnSpc>
                        <a:buFont typeface="Arial"/>
                        <a:buChar char="•"/>
                      </a:pPr>
                      <a:r>
                        <a:rPr lang="en-US" sz="2700" dirty="0">
                          <a:solidFill>
                            <a:srgbClr val="010101"/>
                          </a:solidFill>
                          <a:latin typeface="Aparajita" panose="02020603050405020304" pitchFamily="18" charset="0"/>
                          <a:cs typeface="Aparajita" panose="02020603050405020304" pitchFamily="18" charset="0"/>
                          <a:sym typeface="Open Sauce"/>
                        </a:rPr>
                        <a:t>Worked on structuring and maintaining SQL and cloud documentation.</a:t>
                      </a:r>
                    </a:p>
                    <a:p>
                      <a:endParaRPr lang="en-US" dirty="0">
                        <a:latin typeface="Aparajita" panose="02020603050405020304" pitchFamily="18" charset="0"/>
                        <a:cs typeface="Aparajita"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Understanding project requirements and business objectives.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Analyzing use cases and system workflows.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Identifying data sources and data flow requirements.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Participating in team discussions for requirement clarity.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Working on requirement documentation. </a:t>
                      </a:r>
                    </a:p>
                    <a:p>
                      <a:endParaRPr lang="en-US" dirty="0">
                        <a:latin typeface="Aparajita" panose="02020603050405020304" pitchFamily="18" charset="0"/>
                        <a:cs typeface="Aparajita" panose="02020603050405020304" pitchFamily="18" charset="0"/>
                      </a:endParaRPr>
                    </a:p>
                  </a:txBody>
                  <a:tcPr/>
                </a:tc>
                <a:tc>
                  <a:txBody>
                    <a:bodyPr/>
                    <a:lstStyle/>
                    <a:p>
                      <a:pPr marL="773959" lvl="1" indent="-457200" algn="l">
                        <a:lnSpc>
                          <a:spcPct val="100000"/>
                        </a:lnSpc>
                        <a:buFont typeface="Arial" panose="020B0604020202020204" pitchFamily="34" charset="0"/>
                        <a:buChar char="•"/>
                      </a:pPr>
                      <a:r>
                        <a:rPr lang="en-US" sz="2600" dirty="0">
                          <a:solidFill>
                            <a:srgbClr val="010101"/>
                          </a:solidFill>
                          <a:latin typeface="Aparajita" panose="02020603050405020304" pitchFamily="18" charset="0"/>
                          <a:cs typeface="Aparajita" panose="02020603050405020304" pitchFamily="18" charset="0"/>
                          <a:sym typeface="Open Sauce"/>
                        </a:rPr>
                        <a:t>Reviewed and enhanced the existing BRD.</a:t>
                      </a:r>
                    </a:p>
                    <a:p>
                      <a:pPr marL="773959" lvl="1" indent="-457200" algn="l">
                        <a:lnSpc>
                          <a:spcPct val="100000"/>
                        </a:lnSpc>
                        <a:buFont typeface="Arial" panose="020B0604020202020204" pitchFamily="34" charset="0"/>
                        <a:buChar char="•"/>
                      </a:pPr>
                      <a:r>
                        <a:rPr lang="en-US" sz="2600" dirty="0">
                          <a:solidFill>
                            <a:srgbClr val="010101"/>
                          </a:solidFill>
                          <a:latin typeface="Aparajita" panose="02020603050405020304" pitchFamily="18" charset="0"/>
                          <a:cs typeface="Aparajita" panose="02020603050405020304" pitchFamily="18" charset="0"/>
                          <a:sym typeface="Open Sauce"/>
                        </a:rPr>
                        <a:t>Worked on functional design documentation.</a:t>
                      </a:r>
                    </a:p>
                    <a:p>
                      <a:pPr marL="773959" lvl="1" indent="-457200" algn="l">
                        <a:lnSpc>
                          <a:spcPct val="100000"/>
                        </a:lnSpc>
                        <a:buFont typeface="Arial" panose="020B0604020202020204" pitchFamily="34" charset="0"/>
                        <a:buChar char="•"/>
                      </a:pPr>
                      <a:r>
                        <a:rPr lang="en-US" sz="2600" dirty="0">
                          <a:solidFill>
                            <a:srgbClr val="010101"/>
                          </a:solidFill>
                          <a:latin typeface="Aparajita" panose="02020603050405020304" pitchFamily="18" charset="0"/>
                          <a:cs typeface="Aparajita" panose="02020603050405020304" pitchFamily="18" charset="0"/>
                          <a:sym typeface="Open Sauce"/>
                        </a:rPr>
                        <a:t>Worked on technical design documentation.</a:t>
                      </a:r>
                    </a:p>
                    <a:p>
                      <a:pPr marL="773959" lvl="1" indent="-457200" algn="l">
                        <a:lnSpc>
                          <a:spcPct val="100000"/>
                        </a:lnSpc>
                        <a:buFont typeface="Arial" panose="020B0604020202020204" pitchFamily="34" charset="0"/>
                        <a:buChar char="•"/>
                      </a:pPr>
                      <a:r>
                        <a:rPr lang="en-US" sz="2600" dirty="0">
                          <a:solidFill>
                            <a:srgbClr val="010101"/>
                          </a:solidFill>
                          <a:latin typeface="Aparajita" panose="02020603050405020304" pitchFamily="18" charset="0"/>
                          <a:cs typeface="Aparajita" panose="02020603050405020304" pitchFamily="18" charset="0"/>
                          <a:sym typeface="Open Sauce"/>
                        </a:rPr>
                        <a:t>Documents were prepared using templates provided by the team.</a:t>
                      </a:r>
                    </a:p>
                    <a:p>
                      <a:pPr marL="773959" lvl="1" indent="-457200" algn="l">
                        <a:lnSpc>
                          <a:spcPct val="100000"/>
                        </a:lnSpc>
                        <a:buFont typeface="Arial" panose="020B0604020202020204" pitchFamily="34" charset="0"/>
                        <a:buChar char="•"/>
                      </a:pPr>
                      <a:r>
                        <a:rPr lang="en-US" sz="2600" dirty="0">
                          <a:solidFill>
                            <a:srgbClr val="010101"/>
                          </a:solidFill>
                          <a:latin typeface="Aparajita" panose="02020603050405020304" pitchFamily="18" charset="0"/>
                          <a:cs typeface="Aparajita" panose="02020603050405020304" pitchFamily="18" charset="0"/>
                          <a:sym typeface="Open Sauce"/>
                        </a:rPr>
                        <a:t>Completed the certification of Azure-900.</a:t>
                      </a:r>
                    </a:p>
                    <a:p>
                      <a:pPr marL="773959" lvl="1" indent="-457200" algn="l">
                        <a:lnSpc>
                          <a:spcPct val="100000"/>
                        </a:lnSpc>
                        <a:buFont typeface="Arial" panose="020B0604020202020204" pitchFamily="34" charset="0"/>
                        <a:buChar char="•"/>
                      </a:pPr>
                      <a:r>
                        <a:rPr lang="en-US" sz="2600" dirty="0">
                          <a:latin typeface="Aparajita" panose="02020603050405020304" pitchFamily="18" charset="0"/>
                          <a:cs typeface="Aparajita" panose="02020603050405020304" pitchFamily="18" charset="0"/>
                        </a:rPr>
                        <a:t>Received and reviewed the database schema design.</a:t>
                      </a:r>
                    </a:p>
                    <a:p>
                      <a:pPr marL="773959"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latin typeface="Aparajita" panose="02020603050405020304" pitchFamily="18" charset="0"/>
                          <a:cs typeface="Aparajita" panose="02020603050405020304" pitchFamily="18" charset="0"/>
                        </a:rPr>
                        <a:t>Gained hands-on experience in building SQL queries using SSMS tools. </a:t>
                      </a:r>
                    </a:p>
                    <a:p>
                      <a:endParaRPr lang="en-US" dirty="0">
                        <a:latin typeface="Aparajita" panose="02020603050405020304" pitchFamily="18" charset="0"/>
                        <a:cs typeface="Aparajita" panose="02020603050405020304" pitchFamily="18" charset="0"/>
                      </a:endParaRPr>
                    </a:p>
                  </a:txBody>
                  <a:tcPr/>
                </a:tc>
                <a:tc>
                  <a:txBody>
                    <a:bodyPr/>
                    <a:lstStyle/>
                    <a:p>
                      <a:pPr marL="457200" marR="0" lvl="0" indent="-457200" algn="l" defTabSz="914400" rtl="0" eaLnBrk="0" fontAlgn="base" latinLnBrk="0" hangingPunct="0">
                        <a:lnSpc>
                          <a:spcPct val="100000"/>
                        </a:lnSpc>
                        <a:spcBef>
                          <a:spcPts val="0"/>
                        </a:spcBef>
                        <a:spcAft>
                          <a:spcPts val="0"/>
                        </a:spcAft>
                        <a:buClrTx/>
                        <a:buSzTx/>
                        <a:buFont typeface="Arial" panose="020B0604020202020204" pitchFamily="34" charset="0"/>
                        <a:buChar char="•"/>
                        <a:tabLst/>
                        <a:defRPr/>
                      </a:pPr>
                      <a:r>
                        <a:rPr kumimoji="0" 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Created Azure services like SQL Server, Cosmos DB (NoSQL DB account), and Blob Storage account. </a:t>
                      </a:r>
                    </a:p>
                    <a:p>
                      <a:pPr marL="457200" marR="0" lvl="0" indent="-457200" algn="l" defTabSz="914400" rtl="0" eaLnBrk="0" fontAlgn="base" latinLnBrk="0" hangingPunct="0">
                        <a:lnSpc>
                          <a:spcPct val="100000"/>
                        </a:lnSpc>
                        <a:spcBef>
                          <a:spcPts val="0"/>
                        </a:spcBef>
                        <a:spcAft>
                          <a:spcPts val="0"/>
                        </a:spcAft>
                        <a:buClrTx/>
                        <a:buSzTx/>
                        <a:buFont typeface="Arial" panose="020B0604020202020204" pitchFamily="34" charset="0"/>
                        <a:buChar char="•"/>
                        <a:tabLst/>
                        <a:defRPr/>
                      </a:pPr>
                      <a:r>
                        <a:rPr kumimoji="0" 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Performed data loading and data source management in Azure services. </a:t>
                      </a:r>
                    </a:p>
                    <a:p>
                      <a:pPr marL="457200" marR="0" lvl="0" indent="-457200" algn="l" defTabSz="914400" rtl="0" eaLnBrk="0" fontAlgn="base" latinLnBrk="0" hangingPunct="0">
                        <a:lnSpc>
                          <a:spcPct val="100000"/>
                        </a:lnSpc>
                        <a:spcBef>
                          <a:spcPts val="0"/>
                        </a:spcBef>
                        <a:spcAft>
                          <a:spcPts val="0"/>
                        </a:spcAft>
                        <a:buClrTx/>
                        <a:buSzTx/>
                        <a:buFont typeface="Arial" panose="020B0604020202020204" pitchFamily="34" charset="0"/>
                        <a:buChar char="•"/>
                        <a:tabLst/>
                        <a:defRPr/>
                      </a:pPr>
                      <a:r>
                        <a:rPr kumimoji="0" 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Built Azure Data Factory (ADF) pipelines for data cleaning, aggregation, and transformation.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Worked on data ingestion processes for banking transaction datasets.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rPr>
                        <a:t>Created and monitored Azure Data Factory pipelines for moving transformed data to Azure Analytics Workspace.</a:t>
                      </a:r>
                      <a:endParaRPr kumimoji="0" lang="en-US" sz="2500" b="0" u="none" strike="noStrike" kern="1200" cap="none" spc="0" normalizeH="0" baseline="0" noProof="0" dirty="0">
                        <a:ln>
                          <a:noFill/>
                        </a:ln>
                        <a:solidFill>
                          <a:prstClr val="black"/>
                        </a:solidFill>
                        <a:effectLst/>
                        <a:uLnTx/>
                        <a:uFillTx/>
                        <a:latin typeface="Aparajita" panose="02020603050405020304" pitchFamily="18" charset="0"/>
                        <a:cs typeface="Aparajita" panose="02020603050405020304" pitchFamily="18" charset="0"/>
                      </a:endParaRPr>
                    </a:p>
                    <a:p>
                      <a:endParaRPr lang="en-US" dirty="0">
                        <a:latin typeface="Aparajita" panose="02020603050405020304" pitchFamily="18" charset="0"/>
                        <a:cs typeface="Aparajita" panose="02020603050405020304" pitchFamily="18" charset="0"/>
                      </a:endParaRPr>
                    </a:p>
                  </a:txBody>
                  <a:tcPr/>
                </a:tc>
                <a:extLst>
                  <a:ext uri="{0D108BD9-81ED-4DB2-BD59-A6C34878D82A}">
                    <a16:rowId xmlns:a16="http://schemas.microsoft.com/office/drawing/2014/main" val="3286009575"/>
                  </a:ext>
                </a:extLst>
              </a:tr>
            </a:tbl>
          </a:graphicData>
        </a:graphic>
      </p:graphicFrame>
    </p:spTree>
    <p:extLst>
      <p:ext uri="{BB962C8B-B14F-4D97-AF65-F5344CB8AC3E}">
        <p14:creationId xmlns:p14="http://schemas.microsoft.com/office/powerpoint/2010/main" val="847745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5779BD-C6AD-4413-849A-786D8A4B6D2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02D147-CA06-0DE6-86DB-2DC2BD2A68B3}"/>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0" y="0"/>
            <a:ext cx="14020800" cy="1295400"/>
          </a:xfrm>
          <a:prstGeom prst="rect">
            <a:avLst/>
          </a:prstGeom>
        </p:spPr>
      </p:pic>
      <p:sp>
        <p:nvSpPr>
          <p:cNvPr id="5" name="TextBox 5">
            <a:extLst>
              <a:ext uri="{FF2B5EF4-FFF2-40B4-BE49-F238E27FC236}">
                <a16:creationId xmlns:a16="http://schemas.microsoft.com/office/drawing/2014/main" id="{604EE885-759C-DFC0-BB09-5E8F6DA8DD08}"/>
              </a:ext>
            </a:extLst>
          </p:cNvPr>
          <p:cNvSpPr txBox="1"/>
          <p:nvPr/>
        </p:nvSpPr>
        <p:spPr>
          <a:xfrm>
            <a:off x="1" y="141018"/>
            <a:ext cx="14020800" cy="1167114"/>
          </a:xfrm>
          <a:prstGeom prst="rect">
            <a:avLst/>
          </a:prstGeom>
        </p:spPr>
        <p:txBody>
          <a:bodyPr wrap="square" lIns="0" tIns="0" rIns="0" bIns="0" rtlCol="0" anchor="t">
            <a:spAutoFit/>
          </a:bodyPr>
          <a:lstStyle/>
          <a:p>
            <a:pPr algn="l">
              <a:lnSpc>
                <a:spcPts val="9599"/>
              </a:lnSpc>
            </a:pPr>
            <a:r>
              <a:rPr lang="en-US" sz="7200" b="1" dirty="0">
                <a:solidFill>
                  <a:srgbClr val="010101"/>
                </a:solidFill>
                <a:latin typeface="Telegraf Bold"/>
                <a:ea typeface="Telegraf Bold"/>
                <a:cs typeface="Telegraf Bold"/>
                <a:sym typeface="Telegraf Bold"/>
              </a:rPr>
              <a:t>SPRINT 0 – TRAINING PHASE</a:t>
            </a:r>
          </a:p>
        </p:txBody>
      </p:sp>
      <p:pic>
        <p:nvPicPr>
          <p:cNvPr id="3" name="Picture 2" descr="logo">
            <a:extLst>
              <a:ext uri="{FF2B5EF4-FFF2-40B4-BE49-F238E27FC236}">
                <a16:creationId xmlns:a16="http://schemas.microsoft.com/office/drawing/2014/main" id="{43A3D243-627C-30C7-EE87-BF2D3C4372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119217"/>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nvGrpSpPr>
          <p:cNvPr id="7" name="Group 4">
            <a:extLst>
              <a:ext uri="{FF2B5EF4-FFF2-40B4-BE49-F238E27FC236}">
                <a16:creationId xmlns:a16="http://schemas.microsoft.com/office/drawing/2014/main" id="{FCE23329-B5A0-40A8-33A9-EB8A460E803C}"/>
              </a:ext>
            </a:extLst>
          </p:cNvPr>
          <p:cNvGrpSpPr/>
          <p:nvPr/>
        </p:nvGrpSpPr>
        <p:grpSpPr>
          <a:xfrm>
            <a:off x="0" y="1287781"/>
            <a:ext cx="18318125" cy="57019"/>
            <a:chOff x="0" y="0"/>
            <a:chExt cx="9185420" cy="169434"/>
          </a:xfrm>
          <a:solidFill>
            <a:schemeClr val="accent2">
              <a:lumMod val="60000"/>
              <a:lumOff val="40000"/>
            </a:schemeClr>
          </a:solidFill>
        </p:grpSpPr>
        <p:sp>
          <p:nvSpPr>
            <p:cNvPr id="8" name="Freeform 5">
              <a:extLst>
                <a:ext uri="{FF2B5EF4-FFF2-40B4-BE49-F238E27FC236}">
                  <a16:creationId xmlns:a16="http://schemas.microsoft.com/office/drawing/2014/main" id="{2561CBF0-239E-1167-1F24-97FAB14D9B1E}"/>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9" name="Freeform 5">
            <a:extLst>
              <a:ext uri="{FF2B5EF4-FFF2-40B4-BE49-F238E27FC236}">
                <a16:creationId xmlns:a16="http://schemas.microsoft.com/office/drawing/2014/main" id="{E7321F0B-6C21-68BD-379F-63251DF0E58A}"/>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grpSp>
        <p:nvGrpSpPr>
          <p:cNvPr id="4" name="Group 4">
            <a:extLst>
              <a:ext uri="{FF2B5EF4-FFF2-40B4-BE49-F238E27FC236}">
                <a16:creationId xmlns:a16="http://schemas.microsoft.com/office/drawing/2014/main" id="{F6E05E58-8B3B-4102-8E8B-DA0CE2D8EF0C}"/>
              </a:ext>
            </a:extLst>
          </p:cNvPr>
          <p:cNvGrpSpPr/>
          <p:nvPr/>
        </p:nvGrpSpPr>
        <p:grpSpPr>
          <a:xfrm>
            <a:off x="0" y="1287781"/>
            <a:ext cx="18318125" cy="57019"/>
            <a:chOff x="0" y="0"/>
            <a:chExt cx="9185420" cy="169434"/>
          </a:xfrm>
          <a:solidFill>
            <a:schemeClr val="accent2">
              <a:lumMod val="60000"/>
              <a:lumOff val="40000"/>
            </a:schemeClr>
          </a:solidFill>
        </p:grpSpPr>
        <p:sp>
          <p:nvSpPr>
            <p:cNvPr id="6" name="Freeform 5">
              <a:extLst>
                <a:ext uri="{FF2B5EF4-FFF2-40B4-BE49-F238E27FC236}">
                  <a16:creationId xmlns:a16="http://schemas.microsoft.com/office/drawing/2014/main" id="{2378A396-62F3-A1F9-437D-9BD73AEB6CDD}"/>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10" name="Freeform 5">
            <a:extLst>
              <a:ext uri="{FF2B5EF4-FFF2-40B4-BE49-F238E27FC236}">
                <a16:creationId xmlns:a16="http://schemas.microsoft.com/office/drawing/2014/main" id="{6C09C1E3-6240-0F77-7A1F-AC68F1DC4709}"/>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12" name="Picture 2" descr="logo">
            <a:extLst>
              <a:ext uri="{FF2B5EF4-FFF2-40B4-BE49-F238E27FC236}">
                <a16:creationId xmlns:a16="http://schemas.microsoft.com/office/drawing/2014/main" id="{5D031B39-19B6-5F1F-DC85-9E7EDCAB15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1B9CA08-667F-6F18-9FE8-E55DD2F8B559}"/>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14" name="TextBox 4">
            <a:extLst>
              <a:ext uri="{FF2B5EF4-FFF2-40B4-BE49-F238E27FC236}">
                <a16:creationId xmlns:a16="http://schemas.microsoft.com/office/drawing/2014/main" id="{7C5670DD-11CC-1918-296D-1A86933EFC6D}"/>
              </a:ext>
            </a:extLst>
          </p:cNvPr>
          <p:cNvSpPr txBox="1"/>
          <p:nvPr/>
        </p:nvSpPr>
        <p:spPr>
          <a:xfrm>
            <a:off x="228600" y="209874"/>
            <a:ext cx="14890360" cy="1038746"/>
          </a:xfrm>
          <a:prstGeom prst="rect">
            <a:avLst/>
          </a:prstGeom>
        </p:spPr>
        <p:txBody>
          <a:bodyPr wrap="square" lIns="0" tIns="0" rIns="0" bIns="0" rtlCol="0" anchor="ctr">
            <a:spAutoFit/>
          </a:bodyPr>
          <a:lstStyle/>
          <a:p>
            <a:pPr>
              <a:lnSpc>
                <a:spcPts val="8079"/>
              </a:lnSpc>
            </a:pPr>
            <a:r>
              <a:rPr lang="en-US" sz="6600" b="1" dirty="0">
                <a:latin typeface="Aparajita" panose="02020603050405020304" pitchFamily="18" charset="0"/>
                <a:cs typeface="Aparajita" panose="02020603050405020304" pitchFamily="18" charset="0"/>
              </a:rPr>
              <a:t>Project Workflow, Architecture &amp; Tech Stack</a:t>
            </a:r>
            <a:endParaRPr lang="en-US" sz="6600" b="1" dirty="0">
              <a:latin typeface="Aparajita" panose="02020603050405020304" pitchFamily="18" charset="0"/>
              <a:ea typeface="Telegraf Bold"/>
              <a:cs typeface="Aparajita" panose="02020603050405020304" pitchFamily="18" charset="0"/>
              <a:sym typeface="Telegraf Bold"/>
            </a:endParaRPr>
          </a:p>
        </p:txBody>
      </p:sp>
      <p:grpSp>
        <p:nvGrpSpPr>
          <p:cNvPr id="30" name="Group 4">
            <a:extLst>
              <a:ext uri="{FF2B5EF4-FFF2-40B4-BE49-F238E27FC236}">
                <a16:creationId xmlns:a16="http://schemas.microsoft.com/office/drawing/2014/main" id="{816243D6-149C-2A4F-6D20-F92CCCB756BE}"/>
              </a:ext>
            </a:extLst>
          </p:cNvPr>
          <p:cNvGrpSpPr/>
          <p:nvPr/>
        </p:nvGrpSpPr>
        <p:grpSpPr>
          <a:xfrm>
            <a:off x="0" y="1287781"/>
            <a:ext cx="18318125" cy="57019"/>
            <a:chOff x="0" y="0"/>
            <a:chExt cx="9185420" cy="169434"/>
          </a:xfrm>
          <a:solidFill>
            <a:schemeClr val="accent2">
              <a:lumMod val="60000"/>
              <a:lumOff val="40000"/>
            </a:schemeClr>
          </a:solidFill>
        </p:grpSpPr>
        <p:sp>
          <p:nvSpPr>
            <p:cNvPr id="31" name="Freeform 5">
              <a:extLst>
                <a:ext uri="{FF2B5EF4-FFF2-40B4-BE49-F238E27FC236}">
                  <a16:creationId xmlns:a16="http://schemas.microsoft.com/office/drawing/2014/main" id="{5D3ED721-113E-7557-1F59-527607B154E7}"/>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32" name="Freeform 5">
            <a:extLst>
              <a:ext uri="{FF2B5EF4-FFF2-40B4-BE49-F238E27FC236}">
                <a16:creationId xmlns:a16="http://schemas.microsoft.com/office/drawing/2014/main" id="{AEE549D4-9792-5076-0295-AFA67570E952}"/>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33" name="Picture 2" descr="logo">
            <a:extLst>
              <a:ext uri="{FF2B5EF4-FFF2-40B4-BE49-F238E27FC236}">
                <a16:creationId xmlns:a16="http://schemas.microsoft.com/office/drawing/2014/main" id="{8FF6229E-BFF0-A939-D29E-40E0FBD750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67B6DCB1-164B-2260-F504-C38DC4A2C373}"/>
              </a:ext>
            </a:extLst>
          </p:cNvPr>
          <p:cNvPicPr>
            <a:picLocks noChangeAspect="1"/>
          </p:cNvPicPr>
          <p:nvPr/>
        </p:nvPicPr>
        <p:blipFill>
          <a:blip r:embed="rId2">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5" name="TextBox 4">
            <a:extLst>
              <a:ext uri="{FF2B5EF4-FFF2-40B4-BE49-F238E27FC236}">
                <a16:creationId xmlns:a16="http://schemas.microsoft.com/office/drawing/2014/main" id="{39124F5C-7B27-131C-DDC3-734898C4E1C1}"/>
              </a:ext>
            </a:extLst>
          </p:cNvPr>
          <p:cNvSpPr txBox="1"/>
          <p:nvPr/>
        </p:nvSpPr>
        <p:spPr>
          <a:xfrm>
            <a:off x="228600" y="209874"/>
            <a:ext cx="14890360" cy="1038746"/>
          </a:xfrm>
          <a:prstGeom prst="rect">
            <a:avLst/>
          </a:prstGeom>
        </p:spPr>
        <p:txBody>
          <a:bodyPr wrap="square" lIns="0" tIns="0" rIns="0" bIns="0" rtlCol="0" anchor="ctr">
            <a:spAutoFit/>
          </a:bodyPr>
          <a:lstStyle/>
          <a:p>
            <a:pPr>
              <a:lnSpc>
                <a:spcPts val="8079"/>
              </a:lnSpc>
            </a:pPr>
            <a:r>
              <a:rPr lang="en-US" sz="6600" b="1" dirty="0">
                <a:latin typeface="Aparajita" panose="02020603050405020304" pitchFamily="18" charset="0"/>
                <a:cs typeface="Aparajita" panose="02020603050405020304" pitchFamily="18" charset="0"/>
              </a:rPr>
              <a:t>Tech Stack</a:t>
            </a:r>
            <a:endParaRPr lang="en-US" sz="6600" b="1" dirty="0">
              <a:latin typeface="Aparajita" panose="02020603050405020304" pitchFamily="18" charset="0"/>
              <a:ea typeface="Telegraf Bold"/>
              <a:cs typeface="Aparajita" panose="02020603050405020304" pitchFamily="18" charset="0"/>
              <a:sym typeface="Telegraf Bold"/>
            </a:endParaRPr>
          </a:p>
        </p:txBody>
      </p:sp>
      <p:graphicFrame>
        <p:nvGraphicFramePr>
          <p:cNvPr id="39" name="Table 38">
            <a:extLst>
              <a:ext uri="{FF2B5EF4-FFF2-40B4-BE49-F238E27FC236}">
                <a16:creationId xmlns:a16="http://schemas.microsoft.com/office/drawing/2014/main" id="{E46CD988-67CE-2A35-1947-3396D612330B}"/>
              </a:ext>
            </a:extLst>
          </p:cNvPr>
          <p:cNvGraphicFramePr>
            <a:graphicFrameLocks noGrp="1"/>
          </p:cNvGraphicFramePr>
          <p:nvPr>
            <p:extLst>
              <p:ext uri="{D42A27DB-BD31-4B8C-83A1-F6EECF244321}">
                <p14:modId xmlns:p14="http://schemas.microsoft.com/office/powerpoint/2010/main" val="2190732090"/>
              </p:ext>
            </p:extLst>
          </p:nvPr>
        </p:nvGraphicFramePr>
        <p:xfrm>
          <a:off x="11049000" y="2236614"/>
          <a:ext cx="7049608" cy="4032010"/>
        </p:xfrm>
        <a:graphic>
          <a:graphicData uri="http://schemas.openxmlformats.org/drawingml/2006/table">
            <a:tbl>
              <a:tblPr firstRow="1" bandRow="1">
                <a:tableStyleId>{5940675A-B579-460E-94D1-54222C63F5DA}</a:tableStyleId>
              </a:tblPr>
              <a:tblGrid>
                <a:gridCol w="598043">
                  <a:extLst>
                    <a:ext uri="{9D8B030D-6E8A-4147-A177-3AD203B41FA5}">
                      <a16:colId xmlns:a16="http://schemas.microsoft.com/office/drawing/2014/main" val="1472629877"/>
                    </a:ext>
                  </a:extLst>
                </a:gridCol>
                <a:gridCol w="6451565">
                  <a:extLst>
                    <a:ext uri="{9D8B030D-6E8A-4147-A177-3AD203B41FA5}">
                      <a16:colId xmlns:a16="http://schemas.microsoft.com/office/drawing/2014/main" val="4109234471"/>
                    </a:ext>
                  </a:extLst>
                </a:gridCol>
              </a:tblGrid>
              <a:tr h="1078086">
                <a:tc>
                  <a:txBody>
                    <a:bodyPr/>
                    <a:lstStyle/>
                    <a:p>
                      <a:r>
                        <a:rPr lang="en-IN" sz="2800" dirty="0"/>
                        <a:t>1.</a:t>
                      </a:r>
                    </a:p>
                  </a:txBody>
                  <a:tcPr anchor="ctr"/>
                </a:tc>
                <a:tc>
                  <a:txBody>
                    <a:bodyPr/>
                    <a:lstStyle/>
                    <a:p>
                      <a:r>
                        <a:rPr lang="en-IN" sz="2800" dirty="0">
                          <a:latin typeface="Aparajita" panose="02020603050405020304" pitchFamily="18" charset="0"/>
                          <a:cs typeface="Aparajita" panose="02020603050405020304" pitchFamily="18" charset="0"/>
                        </a:rPr>
                        <a:t>Azure Data Factory </a:t>
                      </a:r>
                      <a:endParaRPr lang="en-IN" sz="2800" dirty="0"/>
                    </a:p>
                  </a:txBody>
                  <a:tcPr anchor="ctr"/>
                </a:tc>
                <a:extLst>
                  <a:ext uri="{0D108BD9-81ED-4DB2-BD59-A6C34878D82A}">
                    <a16:rowId xmlns:a16="http://schemas.microsoft.com/office/drawing/2014/main" val="92437631"/>
                  </a:ext>
                </a:extLst>
              </a:tr>
              <a:tr h="7384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parajita" panose="02020603050405020304" pitchFamily="18" charset="0"/>
                          <a:cs typeface="Aparajita" panose="02020603050405020304" pitchFamily="18" charset="0"/>
                        </a:rPr>
                        <a:t>2.</a:t>
                      </a:r>
                    </a:p>
                  </a:txBody>
                  <a:tcPr anchor="ctr"/>
                </a:tc>
                <a:tc>
                  <a:txBody>
                    <a:bodyPr/>
                    <a:lstStyle/>
                    <a:p>
                      <a:r>
                        <a:rPr lang="en-IN" sz="2800" dirty="0">
                          <a:latin typeface="Aparajita" panose="02020603050405020304" pitchFamily="18" charset="0"/>
                          <a:cs typeface="Aparajita" panose="02020603050405020304" pitchFamily="18" charset="0"/>
                        </a:rPr>
                        <a:t>Azure Data Lake Storage Gen2 </a:t>
                      </a:r>
                      <a:endParaRPr lang="en-IN" sz="2800" dirty="0"/>
                    </a:p>
                  </a:txBody>
                  <a:tcPr anchor="ctr"/>
                </a:tc>
                <a:extLst>
                  <a:ext uri="{0D108BD9-81ED-4DB2-BD59-A6C34878D82A}">
                    <a16:rowId xmlns:a16="http://schemas.microsoft.com/office/drawing/2014/main" val="363982837"/>
                  </a:ext>
                </a:extLst>
              </a:tr>
              <a:tr h="7384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parajita" panose="02020603050405020304" pitchFamily="18" charset="0"/>
                          <a:cs typeface="Aparajita" panose="02020603050405020304" pitchFamily="18" charset="0"/>
                        </a:rPr>
                        <a:t>3.</a:t>
                      </a:r>
                    </a:p>
                  </a:txBody>
                  <a:tcPr anchor="ctr"/>
                </a:tc>
                <a:tc>
                  <a:txBody>
                    <a:bodyPr/>
                    <a:lstStyle/>
                    <a:p>
                      <a:r>
                        <a:rPr lang="en-IN" sz="2800" dirty="0">
                          <a:latin typeface="Aparajita" panose="02020603050405020304" pitchFamily="18" charset="0"/>
                          <a:cs typeface="Aparajita" panose="02020603050405020304" pitchFamily="18" charset="0"/>
                        </a:rPr>
                        <a:t>Azure Synapse Analytics </a:t>
                      </a:r>
                      <a:endParaRPr lang="en-IN" sz="2800" dirty="0"/>
                    </a:p>
                  </a:txBody>
                  <a:tcPr anchor="ctr"/>
                </a:tc>
                <a:extLst>
                  <a:ext uri="{0D108BD9-81ED-4DB2-BD59-A6C34878D82A}">
                    <a16:rowId xmlns:a16="http://schemas.microsoft.com/office/drawing/2014/main" val="933744097"/>
                  </a:ext>
                </a:extLst>
              </a:tr>
              <a:tr h="7384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parajita" panose="02020603050405020304" pitchFamily="18" charset="0"/>
                          <a:cs typeface="Aparajita" panose="02020603050405020304" pitchFamily="18" charset="0"/>
                        </a:rPr>
                        <a:t>4.</a:t>
                      </a:r>
                    </a:p>
                  </a:txBody>
                  <a:tcPr anchor="ctr"/>
                </a:tc>
                <a:tc>
                  <a:txBody>
                    <a:bodyPr/>
                    <a:lstStyle/>
                    <a:p>
                      <a:r>
                        <a:rPr lang="en-IN" sz="2800" dirty="0">
                          <a:latin typeface="Aparajita" panose="02020603050405020304" pitchFamily="18" charset="0"/>
                          <a:cs typeface="Aparajita" panose="02020603050405020304" pitchFamily="18" charset="0"/>
                        </a:rPr>
                        <a:t>SQL, </a:t>
                      </a:r>
                      <a:r>
                        <a:rPr lang="en-IN" sz="2800" dirty="0" err="1">
                          <a:latin typeface="Aparajita" panose="02020603050405020304" pitchFamily="18" charset="0"/>
                          <a:cs typeface="Aparajita" panose="02020603050405020304" pitchFamily="18" charset="0"/>
                        </a:rPr>
                        <a:t>CosmosDb</a:t>
                      </a:r>
                      <a:endParaRPr lang="en-IN" sz="2800" dirty="0"/>
                    </a:p>
                  </a:txBody>
                  <a:tcPr anchor="ctr"/>
                </a:tc>
                <a:extLst>
                  <a:ext uri="{0D108BD9-81ED-4DB2-BD59-A6C34878D82A}">
                    <a16:rowId xmlns:a16="http://schemas.microsoft.com/office/drawing/2014/main" val="2651899614"/>
                  </a:ext>
                </a:extLst>
              </a:tr>
              <a:tr h="7384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parajita" panose="02020603050405020304" pitchFamily="18" charset="0"/>
                          <a:cs typeface="Aparajita" panose="02020603050405020304" pitchFamily="18" charset="0"/>
                        </a:rPr>
                        <a:t>5.</a:t>
                      </a:r>
                    </a:p>
                  </a:txBody>
                  <a:tcPr anchor="ctr"/>
                </a:tc>
                <a:tc>
                  <a:txBody>
                    <a:bodyPr/>
                    <a:lstStyle/>
                    <a:p>
                      <a:r>
                        <a:rPr lang="en-IN" sz="2800" dirty="0">
                          <a:latin typeface="Aparajita" panose="02020603050405020304" pitchFamily="18" charset="0"/>
                          <a:cs typeface="Aparajita" panose="02020603050405020304" pitchFamily="18" charset="0"/>
                        </a:rPr>
                        <a:t>Power BI</a:t>
                      </a:r>
                      <a:endParaRPr lang="en-IN" sz="2800" dirty="0"/>
                    </a:p>
                  </a:txBody>
                  <a:tcPr anchor="ctr"/>
                </a:tc>
                <a:extLst>
                  <a:ext uri="{0D108BD9-81ED-4DB2-BD59-A6C34878D82A}">
                    <a16:rowId xmlns:a16="http://schemas.microsoft.com/office/drawing/2014/main" val="951384318"/>
                  </a:ext>
                </a:extLst>
              </a:tr>
            </a:tbl>
          </a:graphicData>
        </a:graphic>
      </p:graphicFrame>
      <p:sp>
        <p:nvSpPr>
          <p:cNvPr id="40" name="TextBox 39">
            <a:extLst>
              <a:ext uri="{FF2B5EF4-FFF2-40B4-BE49-F238E27FC236}">
                <a16:creationId xmlns:a16="http://schemas.microsoft.com/office/drawing/2014/main" id="{968A6742-BF83-CBD6-AED7-B1451D2FD55E}"/>
              </a:ext>
            </a:extLst>
          </p:cNvPr>
          <p:cNvSpPr txBox="1"/>
          <p:nvPr/>
        </p:nvSpPr>
        <p:spPr>
          <a:xfrm>
            <a:off x="11483028" y="1467174"/>
            <a:ext cx="3635932" cy="769441"/>
          </a:xfrm>
          <a:prstGeom prst="rect">
            <a:avLst/>
          </a:prstGeom>
          <a:noFill/>
        </p:spPr>
        <p:txBody>
          <a:bodyPr wrap="none" rtlCol="0">
            <a:spAutoFit/>
          </a:bodyPr>
          <a:lstStyle/>
          <a:p>
            <a:r>
              <a:rPr lang="en-IN" sz="4400" b="1" dirty="0">
                <a:latin typeface="Aparajita" panose="02020603050405020304" pitchFamily="18" charset="0"/>
                <a:cs typeface="Aparajita" panose="02020603050405020304" pitchFamily="18" charset="0"/>
              </a:rPr>
              <a:t>Technology Stack</a:t>
            </a:r>
          </a:p>
        </p:txBody>
      </p:sp>
      <p:sp>
        <p:nvSpPr>
          <p:cNvPr id="42" name="TextBox 41">
            <a:extLst>
              <a:ext uri="{FF2B5EF4-FFF2-40B4-BE49-F238E27FC236}">
                <a16:creationId xmlns:a16="http://schemas.microsoft.com/office/drawing/2014/main" id="{7247190B-165A-CB43-EF04-D4FC5A0C40B7}"/>
              </a:ext>
            </a:extLst>
          </p:cNvPr>
          <p:cNvSpPr txBox="1"/>
          <p:nvPr/>
        </p:nvSpPr>
        <p:spPr>
          <a:xfrm>
            <a:off x="126791" y="2114404"/>
            <a:ext cx="9444788" cy="3653564"/>
          </a:xfrm>
          <a:prstGeom prst="rect">
            <a:avLst/>
          </a:prstGeom>
          <a:noFill/>
        </p:spPr>
        <p:txBody>
          <a:bodyPr wrap="square">
            <a:spAutoFit/>
          </a:bodyPr>
          <a:lstStyle/>
          <a:p>
            <a:pPr marL="668614" lvl="1" indent="-334307" algn="l">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Ramp up phase</a:t>
            </a:r>
          </a:p>
          <a:p>
            <a:pPr marL="668614" lvl="1" indent="-334307" algn="just">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Requirement gathering </a:t>
            </a:r>
          </a:p>
          <a:p>
            <a:pPr marL="668614" lvl="1" indent="-334307" algn="l">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BRD understanding and enhancement</a:t>
            </a:r>
          </a:p>
          <a:p>
            <a:pPr marL="668614" lvl="1" indent="-334307" algn="just">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Functional design preparation</a:t>
            </a:r>
          </a:p>
          <a:p>
            <a:pPr marL="668614" lvl="1" indent="-334307" algn="just">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Technical design preparation</a:t>
            </a:r>
          </a:p>
          <a:p>
            <a:pPr marL="668614" lvl="1" indent="-334307" algn="just">
              <a:lnSpc>
                <a:spcPts val="4645"/>
              </a:lnSpc>
              <a:buFont typeface="Arial"/>
              <a:buChar char="•"/>
            </a:pPr>
            <a:r>
              <a:rPr lang="en-US" sz="4400" dirty="0">
                <a:solidFill>
                  <a:srgbClr val="010101"/>
                </a:solidFill>
                <a:latin typeface="Aparajita" panose="02020603050405020304" pitchFamily="18" charset="0"/>
                <a:ea typeface="Open Sauce"/>
                <a:cs typeface="Aparajita" panose="02020603050405020304" pitchFamily="18" charset="0"/>
                <a:sym typeface="Open Sauce"/>
              </a:rPr>
              <a:t>Proposed Architecture planning</a:t>
            </a:r>
          </a:p>
        </p:txBody>
      </p:sp>
      <p:pic>
        <p:nvPicPr>
          <p:cNvPr id="1026" name="Picture 2" descr="Azure Data Factories Icon - Free SVG &amp; PNG Download | AZ-Icons">
            <a:extLst>
              <a:ext uri="{FF2B5EF4-FFF2-40B4-BE49-F238E27FC236}">
                <a16:creationId xmlns:a16="http://schemas.microsoft.com/office/drawing/2014/main" id="{174DEEBD-FC84-EE76-7CD7-792BBAB6059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153535" y="2386033"/>
            <a:ext cx="742396" cy="74239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zure Blob Storage vs Azure Data Lake Storage Gen 2: Explained Like You're  5 | by Pratik Mukesh Bharuka | Medium">
            <a:extLst>
              <a:ext uri="{FF2B5EF4-FFF2-40B4-BE49-F238E27FC236}">
                <a16:creationId xmlns:a16="http://schemas.microsoft.com/office/drawing/2014/main" id="{ED71A363-FE02-12BC-28F9-69A9A7A76D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401987" y="3321911"/>
            <a:ext cx="1219200" cy="6907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zure Azure Synapse Analytics Icon - Free SVG &amp; PNG Download | AZ-Icons">
            <a:extLst>
              <a:ext uri="{FF2B5EF4-FFF2-40B4-BE49-F238E27FC236}">
                <a16:creationId xmlns:a16="http://schemas.microsoft.com/office/drawing/2014/main" id="{9C8BE81A-209B-21C8-B3E3-C7AD48AFE85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9244" b="10702"/>
          <a:stretch>
            <a:fillRect/>
          </a:stretch>
        </p:blipFill>
        <p:spPr bwMode="auto">
          <a:xfrm>
            <a:off x="14792388" y="4067391"/>
            <a:ext cx="609599" cy="59981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QL icon in Windows 11 Color Style">
            <a:extLst>
              <a:ext uri="{FF2B5EF4-FFF2-40B4-BE49-F238E27FC236}">
                <a16:creationId xmlns:a16="http://schemas.microsoft.com/office/drawing/2014/main" id="{CD9F0BAF-4E60-4D0A-A4FD-441B2A0737A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6709" t="10181" r="16666" b="10416"/>
          <a:stretch>
            <a:fillRect/>
          </a:stretch>
        </p:blipFill>
        <p:spPr bwMode="auto">
          <a:xfrm>
            <a:off x="14272376" y="4842741"/>
            <a:ext cx="504713" cy="6015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151CAE80-9B22-9DE1-5612-EB87160B3E9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563600" y="5626367"/>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osmos DB - Wikipedia">
            <a:extLst>
              <a:ext uri="{FF2B5EF4-FFF2-40B4-BE49-F238E27FC236}">
                <a16:creationId xmlns:a16="http://schemas.microsoft.com/office/drawing/2014/main" id="{8A7D31A1-2940-9766-CD2D-4B5F041EEDE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895931" y="4721951"/>
            <a:ext cx="1250358" cy="872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974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79A83A-586E-6F45-C993-C491B662B0F7}"/>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06A05CEE-8B28-4574-50AC-31F4C6DC9373}"/>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0FCE8036-65EE-CC8B-5E90-68D92AD8D040}"/>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24914441-6FFB-78D9-09DE-9CC0891BF6C4}"/>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dirty="0"/>
          </a:p>
        </p:txBody>
      </p:sp>
      <p:pic>
        <p:nvPicPr>
          <p:cNvPr id="28" name="Picture 2" descr="logo">
            <a:extLst>
              <a:ext uri="{FF2B5EF4-FFF2-40B4-BE49-F238E27FC236}">
                <a16:creationId xmlns:a16="http://schemas.microsoft.com/office/drawing/2014/main" id="{8013039C-389D-60E3-E7C3-6CC6EE90EF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56E29D03-6347-539F-F43D-DEBB5486263B}"/>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0B7C922E-24A4-C836-60F9-A7057BE69C44}"/>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Skills Learned and  Daily Work</a:t>
            </a:r>
          </a:p>
        </p:txBody>
      </p:sp>
      <p:sp>
        <p:nvSpPr>
          <p:cNvPr id="41" name="TextBox 40">
            <a:extLst>
              <a:ext uri="{FF2B5EF4-FFF2-40B4-BE49-F238E27FC236}">
                <a16:creationId xmlns:a16="http://schemas.microsoft.com/office/drawing/2014/main" id="{AA1405FA-8219-9C6D-418B-1C0C89C0901D}"/>
              </a:ext>
            </a:extLst>
          </p:cNvPr>
          <p:cNvSpPr txBox="1"/>
          <p:nvPr/>
        </p:nvSpPr>
        <p:spPr>
          <a:xfrm>
            <a:off x="9091475" y="3059386"/>
            <a:ext cx="8758499" cy="73353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720377" lvl="1" indent="-360189">
              <a:lnSpc>
                <a:spcPts val="5004"/>
              </a:lnSpc>
              <a:buFont typeface="Arial"/>
              <a:buChar char="•"/>
            </a:pPr>
            <a:endParaRPr lang="en-US" sz="3600" dirty="0">
              <a:solidFill>
                <a:srgbClr val="010101"/>
              </a:solidFill>
              <a:latin typeface="Aparajita" panose="02020603050405020304" pitchFamily="18" charset="0"/>
              <a:ea typeface="Open Sauce"/>
              <a:cs typeface="Aparajita" panose="02020603050405020304" pitchFamily="18" charset="0"/>
              <a:sym typeface="Open Sauce"/>
            </a:endParaRPr>
          </a:p>
        </p:txBody>
      </p:sp>
      <p:sp>
        <p:nvSpPr>
          <p:cNvPr id="43" name="TextBox 5">
            <a:extLst>
              <a:ext uri="{FF2B5EF4-FFF2-40B4-BE49-F238E27FC236}">
                <a16:creationId xmlns:a16="http://schemas.microsoft.com/office/drawing/2014/main" id="{C9E35748-88D7-F294-7E2B-F30B2EE1394C}"/>
              </a:ext>
            </a:extLst>
          </p:cNvPr>
          <p:cNvSpPr txBox="1"/>
          <p:nvPr/>
        </p:nvSpPr>
        <p:spPr>
          <a:xfrm>
            <a:off x="9677400" y="2827358"/>
            <a:ext cx="8434272" cy="590931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spAutoFit/>
          </a:bodyPr>
          <a:lstStyle/>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Learning SQL fundamentals and solving practical use cases daily. </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Daily status update meetings with the team. </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Regular interactions with my manager for guidance and task understanding. </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Progress updates and clarified doubts during discussions.</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Worked on data ingestion processes for banking transaction datasets. </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Created and monitored Azure Data Factory pipelines for moving transformed data to Azure Analytics Workspace. </a:t>
            </a:r>
          </a:p>
          <a:p>
            <a:pPr marL="457200" lvl="0" indent="-457200" eaLnBrk="0" fontAlgn="base" hangingPunct="0">
              <a:spcBef>
                <a:spcPct val="0"/>
              </a:spcBef>
              <a:spcAft>
                <a:spcPct val="0"/>
              </a:spcAft>
              <a:buFont typeface="Arial" panose="020B0604020202020204" pitchFamily="34" charset="0"/>
              <a:buChar char="•"/>
            </a:pPr>
            <a:r>
              <a:rPr lang="en-US" altLang="en-US" sz="3200" dirty="0">
                <a:solidFill>
                  <a:schemeClr val="tx1"/>
                </a:solidFill>
                <a:latin typeface="Aparajita" panose="02020603050405020304" pitchFamily="18" charset="0"/>
                <a:cs typeface="Aparajita" panose="02020603050405020304" pitchFamily="18" charset="0"/>
              </a:rPr>
              <a:t>Supported data validation and workflow optimization during project execution. </a:t>
            </a:r>
          </a:p>
        </p:txBody>
      </p:sp>
      <p:sp>
        <p:nvSpPr>
          <p:cNvPr id="44" name="TextBox 43">
            <a:extLst>
              <a:ext uri="{FF2B5EF4-FFF2-40B4-BE49-F238E27FC236}">
                <a16:creationId xmlns:a16="http://schemas.microsoft.com/office/drawing/2014/main" id="{677E04C8-646C-E833-CF20-D102C2495895}"/>
              </a:ext>
            </a:extLst>
          </p:cNvPr>
          <p:cNvSpPr txBox="1"/>
          <p:nvPr/>
        </p:nvSpPr>
        <p:spPr>
          <a:xfrm>
            <a:off x="256674" y="1759993"/>
            <a:ext cx="3635932" cy="923330"/>
          </a:xfrm>
          <a:prstGeom prst="rect">
            <a:avLst/>
          </a:prstGeom>
          <a:noFill/>
        </p:spPr>
        <p:txBody>
          <a:bodyPr wrap="none" rtlCol="0">
            <a:spAutoFit/>
          </a:bodyPr>
          <a:lstStyle/>
          <a:p>
            <a:r>
              <a:rPr lang="en-IN" sz="5400" b="1" dirty="0">
                <a:latin typeface="Aparajita" panose="02020603050405020304" pitchFamily="18" charset="0"/>
                <a:cs typeface="Aparajita" panose="02020603050405020304" pitchFamily="18" charset="0"/>
              </a:rPr>
              <a:t>Skills Learned</a:t>
            </a:r>
          </a:p>
        </p:txBody>
      </p:sp>
      <p:sp>
        <p:nvSpPr>
          <p:cNvPr id="45" name="TextBox 44">
            <a:extLst>
              <a:ext uri="{FF2B5EF4-FFF2-40B4-BE49-F238E27FC236}">
                <a16:creationId xmlns:a16="http://schemas.microsoft.com/office/drawing/2014/main" id="{574F82A6-4D94-9764-F8D2-FB39FE3F51B0}"/>
              </a:ext>
            </a:extLst>
          </p:cNvPr>
          <p:cNvSpPr txBox="1"/>
          <p:nvPr/>
        </p:nvSpPr>
        <p:spPr>
          <a:xfrm>
            <a:off x="10452356" y="1820667"/>
            <a:ext cx="7136890" cy="923330"/>
          </a:xfrm>
          <a:prstGeom prst="rect">
            <a:avLst/>
          </a:prstGeom>
          <a:noFill/>
        </p:spPr>
        <p:txBody>
          <a:bodyPr wrap="none" rtlCol="0">
            <a:spAutoFit/>
          </a:bodyPr>
          <a:lstStyle/>
          <a:p>
            <a:r>
              <a:rPr lang="en-IN" sz="5400" b="1" dirty="0">
                <a:latin typeface="Aparajita" panose="02020603050405020304" pitchFamily="18" charset="0"/>
                <a:cs typeface="Aparajita" panose="02020603050405020304" pitchFamily="18" charset="0"/>
              </a:rPr>
              <a:t>Daily Work and Involvement</a:t>
            </a:r>
          </a:p>
        </p:txBody>
      </p:sp>
      <p:sp>
        <p:nvSpPr>
          <p:cNvPr id="7" name="TextBox 5">
            <a:extLst>
              <a:ext uri="{FF2B5EF4-FFF2-40B4-BE49-F238E27FC236}">
                <a16:creationId xmlns:a16="http://schemas.microsoft.com/office/drawing/2014/main" id="{AFC610EA-A237-8740-E925-F81135F4548C}"/>
              </a:ext>
            </a:extLst>
          </p:cNvPr>
          <p:cNvSpPr txBox="1"/>
          <p:nvPr/>
        </p:nvSpPr>
        <p:spPr>
          <a:xfrm>
            <a:off x="285500" y="2743997"/>
            <a:ext cx="9163174" cy="6401753"/>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spAutoFit/>
          </a:bodyPr>
          <a:lstStyle/>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Applied SQL for data querying, transformation, and structured data handling.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Functional design and technical design concepts.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Hands-on documentation such as BRD.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Gained hands-on experience in building SQL queries using SSMS tools.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Understanding of Azure cloud fundamental services.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Created Azure services like SQL Server, Cosmos DB (NoSQL DB account), and Blob Storage account.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Performed data loading and data source management in Azure services. </a:t>
            </a:r>
          </a:p>
          <a:p>
            <a:pPr marL="457200" indent="-457200" eaLnBrk="0" fontAlgn="base" hangingPunct="0">
              <a:buFont typeface="Arial" panose="020B0604020202020204" pitchFamily="34" charset="0"/>
              <a:buChar char="•"/>
            </a:pPr>
            <a:r>
              <a:rPr lang="en-US" sz="3200" dirty="0">
                <a:latin typeface="Aparajita" panose="02020603050405020304" pitchFamily="18" charset="0"/>
                <a:cs typeface="Aparajita" panose="02020603050405020304" pitchFamily="18" charset="0"/>
              </a:rPr>
              <a:t>Built Azure Data Factory (ADF) pipelines for data cleaning, aggregation, and transformation. </a:t>
            </a:r>
            <a:endParaRPr lang="en-US" sz="3200" dirty="0">
              <a:effectLst/>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89785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4C7919-8B77-4E06-16D2-DCB24B3CCCE0}"/>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B5A2F3EE-D691-EC41-0908-0382EB4DB4BD}"/>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D6834307-337D-8CC4-B22F-4DC53EA9CE58}"/>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51AAF9D5-74B9-46F5-A515-C1F26E75748B}"/>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B279BCC5-A759-4745-AF9E-4C4CD36B07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FD41E658-A205-0371-2A4B-65C37077C4BC}"/>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EEC8752E-98D6-19C7-BE5C-5DA1EAFFAC92}"/>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Work Done</a:t>
            </a:r>
          </a:p>
        </p:txBody>
      </p:sp>
      <p:pic>
        <p:nvPicPr>
          <p:cNvPr id="3" name="Picture 2">
            <a:extLst>
              <a:ext uri="{FF2B5EF4-FFF2-40B4-BE49-F238E27FC236}">
                <a16:creationId xmlns:a16="http://schemas.microsoft.com/office/drawing/2014/main" id="{A4D8921A-683F-3D89-61FF-C659245574AD}"/>
              </a:ext>
            </a:extLst>
          </p:cNvPr>
          <p:cNvPicPr>
            <a:picLocks noChangeAspect="1"/>
          </p:cNvPicPr>
          <p:nvPr/>
        </p:nvPicPr>
        <p:blipFill>
          <a:blip r:embed="rId4"/>
          <a:stretch>
            <a:fillRect/>
          </a:stretch>
        </p:blipFill>
        <p:spPr>
          <a:xfrm>
            <a:off x="6758550" y="5519739"/>
            <a:ext cx="5562598" cy="3128961"/>
          </a:xfrm>
          <a:prstGeom prst="rect">
            <a:avLst/>
          </a:prstGeom>
        </p:spPr>
      </p:pic>
      <p:pic>
        <p:nvPicPr>
          <p:cNvPr id="5" name="Picture 4">
            <a:extLst>
              <a:ext uri="{FF2B5EF4-FFF2-40B4-BE49-F238E27FC236}">
                <a16:creationId xmlns:a16="http://schemas.microsoft.com/office/drawing/2014/main" id="{B0B64697-F8C5-2B83-6BF1-B7BC27FC078F}"/>
              </a:ext>
            </a:extLst>
          </p:cNvPr>
          <p:cNvPicPr>
            <a:picLocks noChangeAspect="1"/>
          </p:cNvPicPr>
          <p:nvPr/>
        </p:nvPicPr>
        <p:blipFill>
          <a:blip r:embed="rId5"/>
          <a:srcRect l="9453" r="10178"/>
          <a:stretch>
            <a:fillRect/>
          </a:stretch>
        </p:blipFill>
        <p:spPr>
          <a:xfrm>
            <a:off x="7130928" y="1445098"/>
            <a:ext cx="4527672" cy="3495992"/>
          </a:xfrm>
          <a:prstGeom prst="rect">
            <a:avLst/>
          </a:prstGeom>
        </p:spPr>
      </p:pic>
      <p:pic>
        <p:nvPicPr>
          <p:cNvPr id="7" name="Picture 6">
            <a:extLst>
              <a:ext uri="{FF2B5EF4-FFF2-40B4-BE49-F238E27FC236}">
                <a16:creationId xmlns:a16="http://schemas.microsoft.com/office/drawing/2014/main" id="{5B4E5CEF-8F94-D9F1-89C1-2127678F0C52}"/>
              </a:ext>
            </a:extLst>
          </p:cNvPr>
          <p:cNvPicPr>
            <a:picLocks noChangeAspect="1"/>
          </p:cNvPicPr>
          <p:nvPr/>
        </p:nvPicPr>
        <p:blipFill>
          <a:blip r:embed="rId6"/>
          <a:stretch>
            <a:fillRect/>
          </a:stretch>
        </p:blipFill>
        <p:spPr>
          <a:xfrm>
            <a:off x="129149" y="1591825"/>
            <a:ext cx="6271651" cy="3246875"/>
          </a:xfrm>
          <a:prstGeom prst="rect">
            <a:avLst/>
          </a:prstGeom>
        </p:spPr>
      </p:pic>
      <p:cxnSp>
        <p:nvCxnSpPr>
          <p:cNvPr id="11" name="Straight Connector 10">
            <a:extLst>
              <a:ext uri="{FF2B5EF4-FFF2-40B4-BE49-F238E27FC236}">
                <a16:creationId xmlns:a16="http://schemas.microsoft.com/office/drawing/2014/main" id="{B5B1CC39-9AED-8036-02D3-6ABB35888372}"/>
              </a:ext>
            </a:extLst>
          </p:cNvPr>
          <p:cNvCxnSpPr/>
          <p:nvPr/>
        </p:nvCxnSpPr>
        <p:spPr>
          <a:xfrm>
            <a:off x="6553200" y="13448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6E59EA2-D3E9-9B11-4915-DB2BBA237A5B}"/>
              </a:ext>
            </a:extLst>
          </p:cNvPr>
          <p:cNvCxnSpPr/>
          <p:nvPr/>
        </p:nvCxnSpPr>
        <p:spPr>
          <a:xfrm>
            <a:off x="12573000" y="1200817"/>
            <a:ext cx="0" cy="8142100"/>
          </a:xfrm>
          <a:prstGeom prst="line">
            <a:avLst/>
          </a:prstGeom>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0E5E8D8C-8D12-DF8E-2E31-19BBF0E98673}"/>
              </a:ext>
            </a:extLst>
          </p:cNvPr>
          <p:cNvPicPr>
            <a:picLocks noChangeAspect="1"/>
          </p:cNvPicPr>
          <p:nvPr/>
        </p:nvPicPr>
        <p:blipFill>
          <a:blip r:embed="rId7"/>
          <a:stretch>
            <a:fillRect/>
          </a:stretch>
        </p:blipFill>
        <p:spPr>
          <a:xfrm>
            <a:off x="12824853" y="5554787"/>
            <a:ext cx="5364823" cy="3017713"/>
          </a:xfrm>
          <a:prstGeom prst="rect">
            <a:avLst/>
          </a:prstGeom>
        </p:spPr>
      </p:pic>
      <p:pic>
        <p:nvPicPr>
          <p:cNvPr id="16" name="Picture 15">
            <a:extLst>
              <a:ext uri="{FF2B5EF4-FFF2-40B4-BE49-F238E27FC236}">
                <a16:creationId xmlns:a16="http://schemas.microsoft.com/office/drawing/2014/main" id="{6BDCF58F-094B-6D40-D66C-A96785AA88AF}"/>
              </a:ext>
            </a:extLst>
          </p:cNvPr>
          <p:cNvPicPr>
            <a:picLocks noChangeAspect="1"/>
          </p:cNvPicPr>
          <p:nvPr/>
        </p:nvPicPr>
        <p:blipFill>
          <a:blip r:embed="rId8"/>
          <a:stretch>
            <a:fillRect/>
          </a:stretch>
        </p:blipFill>
        <p:spPr>
          <a:xfrm>
            <a:off x="12854350" y="1790701"/>
            <a:ext cx="5127040" cy="2806020"/>
          </a:xfrm>
          <a:prstGeom prst="rect">
            <a:avLst/>
          </a:prstGeom>
        </p:spPr>
      </p:pic>
      <p:cxnSp>
        <p:nvCxnSpPr>
          <p:cNvPr id="17" name="Straight Connector 16">
            <a:extLst>
              <a:ext uri="{FF2B5EF4-FFF2-40B4-BE49-F238E27FC236}">
                <a16:creationId xmlns:a16="http://schemas.microsoft.com/office/drawing/2014/main" id="{D757C1AC-C601-432D-3085-825E776299B2}"/>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a16="http://schemas.microsoft.com/office/drawing/2014/main" id="{1956797F-DFD6-C802-ECF2-0FA5D253E78B}"/>
              </a:ext>
            </a:extLst>
          </p:cNvPr>
          <p:cNvPicPr>
            <a:picLocks noChangeAspect="1"/>
          </p:cNvPicPr>
          <p:nvPr/>
        </p:nvPicPr>
        <p:blipFill>
          <a:blip r:embed="rId9"/>
          <a:stretch>
            <a:fillRect/>
          </a:stretch>
        </p:blipFill>
        <p:spPr>
          <a:xfrm>
            <a:off x="151074" y="5524500"/>
            <a:ext cx="6269779" cy="3192066"/>
          </a:xfrm>
          <a:prstGeom prst="rect">
            <a:avLst/>
          </a:prstGeom>
        </p:spPr>
      </p:pic>
    </p:spTree>
    <p:extLst>
      <p:ext uri="{BB962C8B-B14F-4D97-AF65-F5344CB8AC3E}">
        <p14:creationId xmlns:p14="http://schemas.microsoft.com/office/powerpoint/2010/main" val="14253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A117B6-76B7-1A11-A21A-091C9C089D43}"/>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C3705DFB-A2F9-AB8F-D662-22EEED66EE78}"/>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598AB527-ACEF-E439-94C2-6BDF0F8FD19E}"/>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AF68CF21-98AE-E140-54F7-20D1A3759B76}"/>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930D2228-185C-1955-9472-04F6DDD3F4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8BB96526-CB5C-D1ED-EC61-5F9549C247F0}"/>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54F9BEF6-5D92-DB7B-8556-DBB487C220C7}"/>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Work Done</a:t>
            </a:r>
          </a:p>
        </p:txBody>
      </p:sp>
      <p:cxnSp>
        <p:nvCxnSpPr>
          <p:cNvPr id="11" name="Straight Connector 10">
            <a:extLst>
              <a:ext uri="{FF2B5EF4-FFF2-40B4-BE49-F238E27FC236}">
                <a16:creationId xmlns:a16="http://schemas.microsoft.com/office/drawing/2014/main" id="{D2637BBB-BFAB-122B-F087-2E843EC65F58}"/>
              </a:ext>
            </a:extLst>
          </p:cNvPr>
          <p:cNvCxnSpPr/>
          <p:nvPr/>
        </p:nvCxnSpPr>
        <p:spPr>
          <a:xfrm>
            <a:off x="6553200" y="13448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F94F383-4B13-FAD7-0596-DB511DDEF323}"/>
              </a:ext>
            </a:extLst>
          </p:cNvPr>
          <p:cNvCxnSpPr/>
          <p:nvPr/>
        </p:nvCxnSpPr>
        <p:spPr>
          <a:xfrm>
            <a:off x="12573000" y="1200817"/>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CF02DE1-1437-8D60-035C-1FF8E289E85E}"/>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81058F30-BF3D-8A49-0D45-FF55F9144DFE}"/>
              </a:ext>
            </a:extLst>
          </p:cNvPr>
          <p:cNvPicPr>
            <a:picLocks noChangeAspect="1"/>
          </p:cNvPicPr>
          <p:nvPr/>
        </p:nvPicPr>
        <p:blipFill>
          <a:blip r:embed="rId4"/>
          <a:stretch>
            <a:fillRect/>
          </a:stretch>
        </p:blipFill>
        <p:spPr>
          <a:xfrm>
            <a:off x="749722" y="1640756"/>
            <a:ext cx="5193877" cy="3252834"/>
          </a:xfrm>
          <a:prstGeom prst="rect">
            <a:avLst/>
          </a:prstGeom>
        </p:spPr>
      </p:pic>
      <p:pic>
        <p:nvPicPr>
          <p:cNvPr id="6" name="Picture 5">
            <a:extLst>
              <a:ext uri="{FF2B5EF4-FFF2-40B4-BE49-F238E27FC236}">
                <a16:creationId xmlns:a16="http://schemas.microsoft.com/office/drawing/2014/main" id="{7AE16691-9572-290D-A22D-70E279E058EF}"/>
              </a:ext>
            </a:extLst>
          </p:cNvPr>
          <p:cNvPicPr>
            <a:picLocks noChangeAspect="1"/>
          </p:cNvPicPr>
          <p:nvPr/>
        </p:nvPicPr>
        <p:blipFill>
          <a:blip r:embed="rId5"/>
          <a:stretch>
            <a:fillRect/>
          </a:stretch>
        </p:blipFill>
        <p:spPr>
          <a:xfrm>
            <a:off x="6684846" y="1562053"/>
            <a:ext cx="5756508" cy="3319358"/>
          </a:xfrm>
          <a:prstGeom prst="rect">
            <a:avLst/>
          </a:prstGeom>
        </p:spPr>
      </p:pic>
      <p:pic>
        <p:nvPicPr>
          <p:cNvPr id="9" name="Picture 8">
            <a:extLst>
              <a:ext uri="{FF2B5EF4-FFF2-40B4-BE49-F238E27FC236}">
                <a16:creationId xmlns:a16="http://schemas.microsoft.com/office/drawing/2014/main" id="{91F6A28A-625B-F80F-7888-1506E9814310}"/>
              </a:ext>
            </a:extLst>
          </p:cNvPr>
          <p:cNvPicPr>
            <a:picLocks noChangeAspect="1"/>
          </p:cNvPicPr>
          <p:nvPr/>
        </p:nvPicPr>
        <p:blipFill>
          <a:blip r:embed="rId6"/>
          <a:stretch>
            <a:fillRect/>
          </a:stretch>
        </p:blipFill>
        <p:spPr>
          <a:xfrm>
            <a:off x="12879171" y="1573818"/>
            <a:ext cx="5104029" cy="3406867"/>
          </a:xfrm>
          <a:prstGeom prst="rect">
            <a:avLst/>
          </a:prstGeom>
        </p:spPr>
      </p:pic>
      <p:pic>
        <p:nvPicPr>
          <p:cNvPr id="16" name="Picture 15">
            <a:extLst>
              <a:ext uri="{FF2B5EF4-FFF2-40B4-BE49-F238E27FC236}">
                <a16:creationId xmlns:a16="http://schemas.microsoft.com/office/drawing/2014/main" id="{860B6A1E-394A-1472-51F0-5761B3BF6AC2}"/>
              </a:ext>
            </a:extLst>
          </p:cNvPr>
          <p:cNvPicPr>
            <a:picLocks noChangeAspect="1"/>
          </p:cNvPicPr>
          <p:nvPr/>
        </p:nvPicPr>
        <p:blipFill>
          <a:blip r:embed="rId7"/>
          <a:stretch>
            <a:fillRect/>
          </a:stretch>
        </p:blipFill>
        <p:spPr>
          <a:xfrm>
            <a:off x="1849286" y="5236813"/>
            <a:ext cx="2590787" cy="4269137"/>
          </a:xfrm>
          <a:prstGeom prst="rect">
            <a:avLst/>
          </a:prstGeom>
        </p:spPr>
      </p:pic>
      <p:pic>
        <p:nvPicPr>
          <p:cNvPr id="31" name="Picture 30">
            <a:extLst>
              <a:ext uri="{FF2B5EF4-FFF2-40B4-BE49-F238E27FC236}">
                <a16:creationId xmlns:a16="http://schemas.microsoft.com/office/drawing/2014/main" id="{D82128B3-8D67-BFF1-F57C-AE5CF1AD1023}"/>
              </a:ext>
            </a:extLst>
          </p:cNvPr>
          <p:cNvPicPr>
            <a:picLocks noChangeAspect="1"/>
          </p:cNvPicPr>
          <p:nvPr/>
        </p:nvPicPr>
        <p:blipFill>
          <a:blip r:embed="rId8"/>
          <a:stretch>
            <a:fillRect/>
          </a:stretch>
        </p:blipFill>
        <p:spPr>
          <a:xfrm>
            <a:off x="13639800" y="5380162"/>
            <a:ext cx="3612596" cy="3982022"/>
          </a:xfrm>
          <a:prstGeom prst="rect">
            <a:avLst/>
          </a:prstGeom>
        </p:spPr>
      </p:pic>
      <p:pic>
        <p:nvPicPr>
          <p:cNvPr id="33" name="Picture 32">
            <a:extLst>
              <a:ext uri="{FF2B5EF4-FFF2-40B4-BE49-F238E27FC236}">
                <a16:creationId xmlns:a16="http://schemas.microsoft.com/office/drawing/2014/main" id="{22896E0A-E567-CEFF-7B60-F26B16D0267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84846" y="5658941"/>
            <a:ext cx="5731636" cy="3265300"/>
          </a:xfrm>
          <a:prstGeom prst="rect">
            <a:avLst/>
          </a:prstGeom>
        </p:spPr>
      </p:pic>
    </p:spTree>
    <p:extLst>
      <p:ext uri="{BB962C8B-B14F-4D97-AF65-F5344CB8AC3E}">
        <p14:creationId xmlns:p14="http://schemas.microsoft.com/office/powerpoint/2010/main" val="3471657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B062C8-A118-AF1E-3F04-3C395709F78B}"/>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930D151A-C6C0-C236-FE26-BB3D3305908D}"/>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2F1D5A53-140E-3CE7-3FEE-22B8F112DC7C}"/>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939D5878-F295-DA2A-AE35-A9E9EF68EEAC}"/>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5FC0EFAA-F7AF-B0B2-5E1C-BCC02CE521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EBA3465D-D757-FBD1-CACC-CC72072AA427}"/>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2FF1B6EC-1B16-5883-9862-A9AC9E26C1F2}"/>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Work Done-Infra creation</a:t>
            </a:r>
          </a:p>
        </p:txBody>
      </p:sp>
      <p:cxnSp>
        <p:nvCxnSpPr>
          <p:cNvPr id="11" name="Straight Connector 10">
            <a:extLst>
              <a:ext uri="{FF2B5EF4-FFF2-40B4-BE49-F238E27FC236}">
                <a16:creationId xmlns:a16="http://schemas.microsoft.com/office/drawing/2014/main" id="{F7821B7D-F04A-44B5-78B5-22B7AB35442B}"/>
              </a:ext>
            </a:extLst>
          </p:cNvPr>
          <p:cNvCxnSpPr/>
          <p:nvPr/>
        </p:nvCxnSpPr>
        <p:spPr>
          <a:xfrm>
            <a:off x="6553200" y="13448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F15B2CF-67A2-3040-14FE-084CBC52DFE3}"/>
              </a:ext>
            </a:extLst>
          </p:cNvPr>
          <p:cNvCxnSpPr/>
          <p:nvPr/>
        </p:nvCxnSpPr>
        <p:spPr>
          <a:xfrm>
            <a:off x="12573000" y="1200817"/>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A82D452E-35A2-BC08-0917-4D0EF018B58E}"/>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42" name="Picture 41">
            <a:extLst>
              <a:ext uri="{FF2B5EF4-FFF2-40B4-BE49-F238E27FC236}">
                <a16:creationId xmlns:a16="http://schemas.microsoft.com/office/drawing/2014/main" id="{B5FEE737-2DB5-84C1-821D-114E108789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1" y="1714498"/>
            <a:ext cx="6058004" cy="2895599"/>
          </a:xfrm>
          <a:prstGeom prst="rect">
            <a:avLst/>
          </a:prstGeom>
        </p:spPr>
      </p:pic>
      <p:pic>
        <p:nvPicPr>
          <p:cNvPr id="44" name="Picture 43">
            <a:extLst>
              <a:ext uri="{FF2B5EF4-FFF2-40B4-BE49-F238E27FC236}">
                <a16:creationId xmlns:a16="http://schemas.microsoft.com/office/drawing/2014/main" id="{3C8B0406-64ED-0452-0190-C33EFF7588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25439" y="1629270"/>
            <a:ext cx="5373505" cy="2980824"/>
          </a:xfrm>
          <a:prstGeom prst="rect">
            <a:avLst/>
          </a:prstGeom>
        </p:spPr>
      </p:pic>
      <p:pic>
        <p:nvPicPr>
          <p:cNvPr id="46" name="Picture 45">
            <a:extLst>
              <a:ext uri="{FF2B5EF4-FFF2-40B4-BE49-F238E27FC236}">
                <a16:creationId xmlns:a16="http://schemas.microsoft.com/office/drawing/2014/main" id="{13B065AC-C629-344F-61EA-218858E2B8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823476" y="1629270"/>
            <a:ext cx="4991617" cy="2980822"/>
          </a:xfrm>
          <a:prstGeom prst="rect">
            <a:avLst/>
          </a:prstGeom>
        </p:spPr>
      </p:pic>
      <p:pic>
        <p:nvPicPr>
          <p:cNvPr id="48" name="Picture 47">
            <a:extLst>
              <a:ext uri="{FF2B5EF4-FFF2-40B4-BE49-F238E27FC236}">
                <a16:creationId xmlns:a16="http://schemas.microsoft.com/office/drawing/2014/main" id="{3FDED3D4-3F93-D159-BA9A-8D2AEEBC1A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8344" y="5611223"/>
            <a:ext cx="6086786" cy="3231313"/>
          </a:xfrm>
          <a:prstGeom prst="rect">
            <a:avLst/>
          </a:prstGeom>
        </p:spPr>
      </p:pic>
      <p:pic>
        <p:nvPicPr>
          <p:cNvPr id="50" name="Picture 49">
            <a:extLst>
              <a:ext uri="{FF2B5EF4-FFF2-40B4-BE49-F238E27FC236}">
                <a16:creationId xmlns:a16="http://schemas.microsoft.com/office/drawing/2014/main" id="{B026E02A-2212-D2EA-7996-8311CA706A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95205" y="5658941"/>
            <a:ext cx="5632763" cy="2998785"/>
          </a:xfrm>
          <a:prstGeom prst="rect">
            <a:avLst/>
          </a:prstGeom>
        </p:spPr>
      </p:pic>
      <p:pic>
        <p:nvPicPr>
          <p:cNvPr id="52" name="Picture 51">
            <a:extLst>
              <a:ext uri="{FF2B5EF4-FFF2-40B4-BE49-F238E27FC236}">
                <a16:creationId xmlns:a16="http://schemas.microsoft.com/office/drawing/2014/main" id="{33E2F983-33B2-51B5-98C6-D3E5F90B15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709389" y="5689916"/>
            <a:ext cx="5337481" cy="2967805"/>
          </a:xfrm>
          <a:prstGeom prst="rect">
            <a:avLst/>
          </a:prstGeom>
        </p:spPr>
      </p:pic>
    </p:spTree>
    <p:extLst>
      <p:ext uri="{BB962C8B-B14F-4D97-AF65-F5344CB8AC3E}">
        <p14:creationId xmlns:p14="http://schemas.microsoft.com/office/powerpoint/2010/main" val="307699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D879D3-2C9F-506F-9352-448E9BB9F962}"/>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83EE587C-971F-4F50-C2DE-3EB291E8D5B8}"/>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DCE27CC9-C27E-5C9D-0327-469EE9A4F595}"/>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D91843B0-BBE7-AC64-0454-5517911A08E2}"/>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A51EB549-F396-B16A-A667-74C25E417F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DF840F4A-1B4D-E4D5-CFFA-CAA93FD1A45A}"/>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A9951BD1-5A0B-98C2-E089-6E1905B9355B}"/>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Work Done-Infra creation</a:t>
            </a:r>
          </a:p>
        </p:txBody>
      </p:sp>
      <p:cxnSp>
        <p:nvCxnSpPr>
          <p:cNvPr id="11" name="Straight Connector 10">
            <a:extLst>
              <a:ext uri="{FF2B5EF4-FFF2-40B4-BE49-F238E27FC236}">
                <a16:creationId xmlns:a16="http://schemas.microsoft.com/office/drawing/2014/main" id="{4F480614-E5F1-8CC5-C89E-E53BAD464B04}"/>
              </a:ext>
            </a:extLst>
          </p:cNvPr>
          <p:cNvCxnSpPr/>
          <p:nvPr/>
        </p:nvCxnSpPr>
        <p:spPr>
          <a:xfrm>
            <a:off x="6553200" y="13448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BE538E6-5D01-3CC6-6C8D-73741D211CAD}"/>
              </a:ext>
            </a:extLst>
          </p:cNvPr>
          <p:cNvCxnSpPr/>
          <p:nvPr/>
        </p:nvCxnSpPr>
        <p:spPr>
          <a:xfrm>
            <a:off x="12573000" y="1200817"/>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C986B0E-B29E-39D2-CA32-D2CA9BAD550D}"/>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33BF8BAA-3F1A-AA99-064C-D6A16E4854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8128" y="1722086"/>
            <a:ext cx="5276872" cy="2888009"/>
          </a:xfrm>
          <a:prstGeom prst="rect">
            <a:avLst/>
          </a:prstGeom>
        </p:spPr>
      </p:pic>
      <p:pic>
        <p:nvPicPr>
          <p:cNvPr id="5" name="Picture 4">
            <a:extLst>
              <a:ext uri="{FF2B5EF4-FFF2-40B4-BE49-F238E27FC236}">
                <a16:creationId xmlns:a16="http://schemas.microsoft.com/office/drawing/2014/main" id="{B47CA0EA-4978-5E0B-78F2-C96CE2D9AB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7927" y="1910862"/>
            <a:ext cx="5516465" cy="2699233"/>
          </a:xfrm>
          <a:prstGeom prst="rect">
            <a:avLst/>
          </a:prstGeom>
        </p:spPr>
      </p:pic>
      <p:pic>
        <p:nvPicPr>
          <p:cNvPr id="7" name="Picture 6">
            <a:extLst>
              <a:ext uri="{FF2B5EF4-FFF2-40B4-BE49-F238E27FC236}">
                <a16:creationId xmlns:a16="http://schemas.microsoft.com/office/drawing/2014/main" id="{F3539EF1-B8BA-06DF-5319-27D1219D036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836726" y="1916305"/>
            <a:ext cx="5013239" cy="2693790"/>
          </a:xfrm>
          <a:prstGeom prst="rect">
            <a:avLst/>
          </a:prstGeom>
        </p:spPr>
      </p:pic>
      <p:pic>
        <p:nvPicPr>
          <p:cNvPr id="9" name="Picture 8">
            <a:extLst>
              <a:ext uri="{FF2B5EF4-FFF2-40B4-BE49-F238E27FC236}">
                <a16:creationId xmlns:a16="http://schemas.microsoft.com/office/drawing/2014/main" id="{22714357-C18A-A29B-5836-B4CFCC8F51E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3401" y="5733215"/>
            <a:ext cx="5458587" cy="3448884"/>
          </a:xfrm>
          <a:prstGeom prst="rect">
            <a:avLst/>
          </a:prstGeom>
        </p:spPr>
      </p:pic>
      <p:pic>
        <p:nvPicPr>
          <p:cNvPr id="2" name="Picture 1">
            <a:extLst>
              <a:ext uri="{FF2B5EF4-FFF2-40B4-BE49-F238E27FC236}">
                <a16:creationId xmlns:a16="http://schemas.microsoft.com/office/drawing/2014/main" id="{6686D123-55E5-B4E2-9011-62F662A709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83363" y="5686155"/>
            <a:ext cx="5686954" cy="3038739"/>
          </a:xfrm>
          <a:prstGeom prst="rect">
            <a:avLst/>
          </a:prstGeom>
        </p:spPr>
      </p:pic>
      <p:pic>
        <p:nvPicPr>
          <p:cNvPr id="4" name="Picture 3">
            <a:extLst>
              <a:ext uri="{FF2B5EF4-FFF2-40B4-BE49-F238E27FC236}">
                <a16:creationId xmlns:a16="http://schemas.microsoft.com/office/drawing/2014/main" id="{49626366-717F-33C2-7E76-62316B8C287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836726" y="5727773"/>
            <a:ext cx="5237262" cy="2997122"/>
          </a:xfrm>
          <a:prstGeom prst="rect">
            <a:avLst/>
          </a:prstGeom>
        </p:spPr>
      </p:pic>
    </p:spTree>
    <p:extLst>
      <p:ext uri="{BB962C8B-B14F-4D97-AF65-F5344CB8AC3E}">
        <p14:creationId xmlns:p14="http://schemas.microsoft.com/office/powerpoint/2010/main" val="3580272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AC5AD6-10E6-33AD-C44F-A9238ED38945}"/>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49A36ED1-FC9A-6E2B-7907-EC884C5ED32E}"/>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AF0815F8-AAEC-D062-F21A-4BE0E48C6906}"/>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F6396A97-BA72-AAF1-4212-27AF04BFBACE}"/>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0463AFB0-47C9-421F-5B2F-638F523576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F4D81DC1-166E-9FAE-C177-336311404A8B}"/>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A10DE777-0E2C-5EDC-99F7-7D2459CD926A}"/>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Work Done</a:t>
            </a:r>
          </a:p>
        </p:txBody>
      </p:sp>
      <p:cxnSp>
        <p:nvCxnSpPr>
          <p:cNvPr id="11" name="Straight Connector 10">
            <a:extLst>
              <a:ext uri="{FF2B5EF4-FFF2-40B4-BE49-F238E27FC236}">
                <a16:creationId xmlns:a16="http://schemas.microsoft.com/office/drawing/2014/main" id="{72700A2B-C5D5-8D7E-DD83-B64A7DF68756}"/>
              </a:ext>
            </a:extLst>
          </p:cNvPr>
          <p:cNvCxnSpPr/>
          <p:nvPr/>
        </p:nvCxnSpPr>
        <p:spPr>
          <a:xfrm>
            <a:off x="9182100" y="1277442"/>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767EB7F-21C2-383A-B1C7-8C45CC482F3B}"/>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C5F5F4EA-7211-3019-A362-145720D2189E}"/>
              </a:ext>
            </a:extLst>
          </p:cNvPr>
          <p:cNvPicPr>
            <a:picLocks noChangeAspect="1"/>
          </p:cNvPicPr>
          <p:nvPr/>
        </p:nvPicPr>
        <p:blipFill>
          <a:blip r:embed="rId4"/>
          <a:srcRect b="6383"/>
          <a:stretch>
            <a:fillRect/>
          </a:stretch>
        </p:blipFill>
        <p:spPr>
          <a:xfrm>
            <a:off x="889910" y="1554715"/>
            <a:ext cx="7347853" cy="3345384"/>
          </a:xfrm>
          <a:prstGeom prst="rect">
            <a:avLst/>
          </a:prstGeom>
        </p:spPr>
      </p:pic>
      <p:pic>
        <p:nvPicPr>
          <p:cNvPr id="6" name="Picture 5">
            <a:extLst>
              <a:ext uri="{FF2B5EF4-FFF2-40B4-BE49-F238E27FC236}">
                <a16:creationId xmlns:a16="http://schemas.microsoft.com/office/drawing/2014/main" id="{447D8A8B-4D2B-56FC-BDCE-CDF990AD5CCD}"/>
              </a:ext>
            </a:extLst>
          </p:cNvPr>
          <p:cNvPicPr>
            <a:picLocks noChangeAspect="1"/>
          </p:cNvPicPr>
          <p:nvPr/>
        </p:nvPicPr>
        <p:blipFill>
          <a:blip r:embed="rId5" cstate="print">
            <a:extLst>
              <a:ext uri="{28A0092B-C50C-407E-A947-70E740481C1C}">
                <a14:useLocalDpi xmlns:a14="http://schemas.microsoft.com/office/drawing/2010/main" val="0"/>
              </a:ext>
            </a:extLst>
          </a:blip>
          <a:srcRect b="6655"/>
          <a:stretch>
            <a:fillRect/>
          </a:stretch>
        </p:blipFill>
        <p:spPr>
          <a:xfrm>
            <a:off x="9968593" y="5392345"/>
            <a:ext cx="7660683" cy="3815336"/>
          </a:xfrm>
          <a:prstGeom prst="rect">
            <a:avLst/>
          </a:prstGeom>
        </p:spPr>
      </p:pic>
      <p:pic>
        <p:nvPicPr>
          <p:cNvPr id="9" name="Picture 8">
            <a:extLst>
              <a:ext uri="{FF2B5EF4-FFF2-40B4-BE49-F238E27FC236}">
                <a16:creationId xmlns:a16="http://schemas.microsoft.com/office/drawing/2014/main" id="{DC3C97C6-1D8A-16C4-1E06-FA589F1A3E33}"/>
              </a:ext>
            </a:extLst>
          </p:cNvPr>
          <p:cNvPicPr>
            <a:picLocks noChangeAspect="1"/>
          </p:cNvPicPr>
          <p:nvPr/>
        </p:nvPicPr>
        <p:blipFill>
          <a:blip r:embed="rId6"/>
          <a:srcRect b="6296"/>
          <a:stretch>
            <a:fillRect/>
          </a:stretch>
        </p:blipFill>
        <p:spPr>
          <a:xfrm>
            <a:off x="9968593" y="1512977"/>
            <a:ext cx="7429496" cy="3505863"/>
          </a:xfrm>
          <a:prstGeom prst="rect">
            <a:avLst/>
          </a:prstGeom>
        </p:spPr>
      </p:pic>
      <p:pic>
        <p:nvPicPr>
          <p:cNvPr id="12" name="Picture 11">
            <a:extLst>
              <a:ext uri="{FF2B5EF4-FFF2-40B4-BE49-F238E27FC236}">
                <a16:creationId xmlns:a16="http://schemas.microsoft.com/office/drawing/2014/main" id="{43DF6825-F60A-DA77-5D09-A1C59F651AD2}"/>
              </a:ext>
            </a:extLst>
          </p:cNvPr>
          <p:cNvPicPr>
            <a:picLocks noChangeAspect="1"/>
          </p:cNvPicPr>
          <p:nvPr/>
        </p:nvPicPr>
        <p:blipFill>
          <a:blip r:embed="rId7" cstate="print">
            <a:extLst>
              <a:ext uri="{28A0092B-C50C-407E-A947-70E740481C1C}">
                <a14:useLocalDpi xmlns:a14="http://schemas.microsoft.com/office/drawing/2010/main" val="0"/>
              </a:ext>
            </a:extLst>
          </a:blip>
          <a:srcRect b="6194"/>
          <a:stretch>
            <a:fillRect/>
          </a:stretch>
        </p:blipFill>
        <p:spPr>
          <a:xfrm>
            <a:off x="635458" y="5386902"/>
            <a:ext cx="7856755" cy="3859913"/>
          </a:xfrm>
          <a:prstGeom prst="rect">
            <a:avLst/>
          </a:prstGeom>
        </p:spPr>
      </p:pic>
    </p:spTree>
    <p:extLst>
      <p:ext uri="{BB962C8B-B14F-4D97-AF65-F5344CB8AC3E}">
        <p14:creationId xmlns:p14="http://schemas.microsoft.com/office/powerpoint/2010/main" val="3561638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8F0F1A-5EF4-1580-92F7-5567B5BF5932}"/>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30C227D5-AE37-E2D3-DABA-7B2EEE790692}"/>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B7D394F7-45A6-BC95-C1A3-CAD0A4301820}"/>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43EAD630-2EE8-0990-DAE1-4E5D0271ED23}"/>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6E3131C4-A13B-0293-4412-A30F35A7AF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0EF3D2D4-F10F-7181-3E6A-B14E904E6644}"/>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CAEBDE52-4C83-D289-27A9-948073BEC012}"/>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Project</a:t>
            </a:r>
          </a:p>
        </p:txBody>
      </p:sp>
      <p:cxnSp>
        <p:nvCxnSpPr>
          <p:cNvPr id="11" name="Straight Connector 10">
            <a:extLst>
              <a:ext uri="{FF2B5EF4-FFF2-40B4-BE49-F238E27FC236}">
                <a16:creationId xmlns:a16="http://schemas.microsoft.com/office/drawing/2014/main" id="{623E4994-EBD8-3ADF-6A37-308B88255FED}"/>
              </a:ext>
            </a:extLst>
          </p:cNvPr>
          <p:cNvCxnSpPr/>
          <p:nvPr/>
        </p:nvCxnSpPr>
        <p:spPr>
          <a:xfrm>
            <a:off x="6553200" y="13448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0F60ADF-05B5-7EE9-ADB5-1FAFCED83375}"/>
              </a:ext>
            </a:extLst>
          </p:cNvPr>
          <p:cNvCxnSpPr/>
          <p:nvPr/>
        </p:nvCxnSpPr>
        <p:spPr>
          <a:xfrm>
            <a:off x="12573000" y="1200817"/>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B9A48E6-6F0E-C49A-E373-E1B6ABB82DB3}"/>
              </a:ext>
            </a:extLst>
          </p:cNvPr>
          <p:cNvCxnSpPr>
            <a:cxnSpLocks/>
          </p:cNvCxnSpPr>
          <p:nvPr/>
        </p:nvCxnSpPr>
        <p:spPr>
          <a:xfrm>
            <a:off x="-198527" y="5143500"/>
            <a:ext cx="18516600" cy="0"/>
          </a:xfrm>
          <a:prstGeom prst="line">
            <a:avLst/>
          </a:prstGeom>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044C5217-BFDC-162C-5EA7-A7D6D420BE82}"/>
              </a:ext>
            </a:extLst>
          </p:cNvPr>
          <p:cNvPicPr>
            <a:picLocks noChangeAspect="1"/>
          </p:cNvPicPr>
          <p:nvPr/>
        </p:nvPicPr>
        <p:blipFill>
          <a:blip r:embed="rId4"/>
          <a:stretch>
            <a:fillRect/>
          </a:stretch>
        </p:blipFill>
        <p:spPr>
          <a:xfrm>
            <a:off x="19213" y="1658449"/>
            <a:ext cx="6381587" cy="3195100"/>
          </a:xfrm>
          <a:prstGeom prst="rect">
            <a:avLst/>
          </a:prstGeom>
        </p:spPr>
      </p:pic>
      <p:pic>
        <p:nvPicPr>
          <p:cNvPr id="6" name="Picture 5">
            <a:extLst>
              <a:ext uri="{FF2B5EF4-FFF2-40B4-BE49-F238E27FC236}">
                <a16:creationId xmlns:a16="http://schemas.microsoft.com/office/drawing/2014/main" id="{D3202758-7731-3C14-4B34-95F722308821}"/>
              </a:ext>
            </a:extLst>
          </p:cNvPr>
          <p:cNvPicPr>
            <a:picLocks noChangeAspect="1"/>
          </p:cNvPicPr>
          <p:nvPr/>
        </p:nvPicPr>
        <p:blipFill>
          <a:blip r:embed="rId5"/>
          <a:stretch>
            <a:fillRect/>
          </a:stretch>
        </p:blipFill>
        <p:spPr>
          <a:xfrm>
            <a:off x="6827928" y="1672850"/>
            <a:ext cx="5467468" cy="3089643"/>
          </a:xfrm>
          <a:prstGeom prst="rect">
            <a:avLst/>
          </a:prstGeom>
        </p:spPr>
      </p:pic>
      <p:pic>
        <p:nvPicPr>
          <p:cNvPr id="9" name="Picture 8">
            <a:extLst>
              <a:ext uri="{FF2B5EF4-FFF2-40B4-BE49-F238E27FC236}">
                <a16:creationId xmlns:a16="http://schemas.microsoft.com/office/drawing/2014/main" id="{E157CFE1-1FF1-43DD-58AA-2EA9606A0E59}"/>
              </a:ext>
            </a:extLst>
          </p:cNvPr>
          <p:cNvPicPr>
            <a:picLocks noChangeAspect="1"/>
          </p:cNvPicPr>
          <p:nvPr/>
        </p:nvPicPr>
        <p:blipFill>
          <a:blip r:embed="rId6"/>
          <a:stretch>
            <a:fillRect/>
          </a:stretch>
        </p:blipFill>
        <p:spPr>
          <a:xfrm>
            <a:off x="12722985" y="1672850"/>
            <a:ext cx="5445104" cy="3180698"/>
          </a:xfrm>
          <a:prstGeom prst="rect">
            <a:avLst/>
          </a:prstGeom>
        </p:spPr>
      </p:pic>
      <p:pic>
        <p:nvPicPr>
          <p:cNvPr id="14" name="Picture 13">
            <a:extLst>
              <a:ext uri="{FF2B5EF4-FFF2-40B4-BE49-F238E27FC236}">
                <a16:creationId xmlns:a16="http://schemas.microsoft.com/office/drawing/2014/main" id="{455F7D0A-3143-D288-6F12-1185C5512AF1}"/>
              </a:ext>
            </a:extLst>
          </p:cNvPr>
          <p:cNvPicPr>
            <a:picLocks noChangeAspect="1"/>
          </p:cNvPicPr>
          <p:nvPr/>
        </p:nvPicPr>
        <p:blipFill>
          <a:blip r:embed="rId7"/>
          <a:stretch>
            <a:fillRect/>
          </a:stretch>
        </p:blipFill>
        <p:spPr>
          <a:xfrm>
            <a:off x="228600" y="5524508"/>
            <a:ext cx="5984172" cy="3417693"/>
          </a:xfrm>
          <a:prstGeom prst="rect">
            <a:avLst/>
          </a:prstGeom>
        </p:spPr>
      </p:pic>
      <p:pic>
        <p:nvPicPr>
          <p:cNvPr id="18" name="Picture 17">
            <a:extLst>
              <a:ext uri="{FF2B5EF4-FFF2-40B4-BE49-F238E27FC236}">
                <a16:creationId xmlns:a16="http://schemas.microsoft.com/office/drawing/2014/main" id="{30F0CB50-8BC9-87CB-4C3E-0331D9C40970}"/>
              </a:ext>
            </a:extLst>
          </p:cNvPr>
          <p:cNvPicPr>
            <a:picLocks noChangeAspect="1"/>
          </p:cNvPicPr>
          <p:nvPr/>
        </p:nvPicPr>
        <p:blipFill>
          <a:blip r:embed="rId8"/>
          <a:stretch>
            <a:fillRect/>
          </a:stretch>
        </p:blipFill>
        <p:spPr>
          <a:xfrm>
            <a:off x="6705601" y="5524507"/>
            <a:ext cx="5701124" cy="3417689"/>
          </a:xfrm>
          <a:prstGeom prst="rect">
            <a:avLst/>
          </a:prstGeom>
        </p:spPr>
      </p:pic>
      <p:pic>
        <p:nvPicPr>
          <p:cNvPr id="22" name="Picture 21">
            <a:extLst>
              <a:ext uri="{FF2B5EF4-FFF2-40B4-BE49-F238E27FC236}">
                <a16:creationId xmlns:a16="http://schemas.microsoft.com/office/drawing/2014/main" id="{C78E5110-7E86-DFC8-5BCD-2D692FD35F43}"/>
              </a:ext>
            </a:extLst>
          </p:cNvPr>
          <p:cNvPicPr>
            <a:picLocks noChangeAspect="1"/>
          </p:cNvPicPr>
          <p:nvPr/>
        </p:nvPicPr>
        <p:blipFill>
          <a:blip r:embed="rId9"/>
          <a:stretch>
            <a:fillRect/>
          </a:stretch>
        </p:blipFill>
        <p:spPr>
          <a:xfrm>
            <a:off x="12850605" y="5524506"/>
            <a:ext cx="5162210" cy="3417681"/>
          </a:xfrm>
          <a:prstGeom prst="rect">
            <a:avLst/>
          </a:prstGeom>
        </p:spPr>
      </p:pic>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C7A639A0-2BBE-71CF-6618-EEDA01845B42}"/>
                  </a:ext>
                </a:extLst>
              </p14:cNvPr>
              <p14:cNvContentPartPr/>
              <p14:nvPr/>
            </p14:nvContentPartPr>
            <p14:xfrm>
              <a:off x="144720" y="2108253"/>
              <a:ext cx="156960" cy="360"/>
            </p14:xfrm>
          </p:contentPart>
        </mc:Choice>
        <mc:Fallback xmlns="">
          <p:pic>
            <p:nvPicPr>
              <p:cNvPr id="23" name="Ink 22">
                <a:extLst>
                  <a:ext uri="{FF2B5EF4-FFF2-40B4-BE49-F238E27FC236}">
                    <a16:creationId xmlns:a16="http://schemas.microsoft.com/office/drawing/2014/main" id="{C7A639A0-2BBE-71CF-6618-EEDA01845B42}"/>
                  </a:ext>
                </a:extLst>
              </p:cNvPr>
              <p:cNvPicPr/>
              <p:nvPr/>
            </p:nvPicPr>
            <p:blipFill>
              <a:blip r:embed="rId11"/>
              <a:stretch>
                <a:fillRect/>
              </a:stretch>
            </p:blipFill>
            <p:spPr>
              <a:xfrm>
                <a:off x="90720" y="2000253"/>
                <a:ext cx="264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CE9A744C-C60A-8637-F1BE-E7EDE8B025FC}"/>
                  </a:ext>
                </a:extLst>
              </p14:cNvPr>
              <p14:cNvContentPartPr/>
              <p14:nvPr/>
            </p14:nvContentPartPr>
            <p14:xfrm>
              <a:off x="135000" y="2065053"/>
              <a:ext cx="254880" cy="43200"/>
            </p14:xfrm>
          </p:contentPart>
        </mc:Choice>
        <mc:Fallback xmlns="">
          <p:pic>
            <p:nvPicPr>
              <p:cNvPr id="24" name="Ink 23">
                <a:extLst>
                  <a:ext uri="{FF2B5EF4-FFF2-40B4-BE49-F238E27FC236}">
                    <a16:creationId xmlns:a16="http://schemas.microsoft.com/office/drawing/2014/main" id="{CE9A744C-C60A-8637-F1BE-E7EDE8B025FC}"/>
                  </a:ext>
                </a:extLst>
              </p:cNvPr>
              <p:cNvPicPr/>
              <p:nvPr/>
            </p:nvPicPr>
            <p:blipFill>
              <a:blip r:embed="rId13"/>
              <a:stretch>
                <a:fillRect/>
              </a:stretch>
            </p:blipFill>
            <p:spPr>
              <a:xfrm>
                <a:off x="81360" y="1957413"/>
                <a:ext cx="3625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BCAECF27-136B-0F57-C2A0-4257C2521F79}"/>
                  </a:ext>
                </a:extLst>
              </p14:cNvPr>
              <p14:cNvContentPartPr/>
              <p14:nvPr/>
            </p14:nvContentPartPr>
            <p14:xfrm>
              <a:off x="155520" y="2082693"/>
              <a:ext cx="242280" cy="17640"/>
            </p14:xfrm>
          </p:contentPart>
        </mc:Choice>
        <mc:Fallback xmlns="">
          <p:pic>
            <p:nvPicPr>
              <p:cNvPr id="30" name="Ink 29">
                <a:extLst>
                  <a:ext uri="{FF2B5EF4-FFF2-40B4-BE49-F238E27FC236}">
                    <a16:creationId xmlns:a16="http://schemas.microsoft.com/office/drawing/2014/main" id="{BCAECF27-136B-0F57-C2A0-4257C2521F79}"/>
                  </a:ext>
                </a:extLst>
              </p:cNvPr>
              <p:cNvPicPr/>
              <p:nvPr/>
            </p:nvPicPr>
            <p:blipFill>
              <a:blip r:embed="rId15"/>
              <a:stretch>
                <a:fillRect/>
              </a:stretch>
            </p:blipFill>
            <p:spPr>
              <a:xfrm>
                <a:off x="101520" y="1975053"/>
                <a:ext cx="3499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B1CFB83B-3EDE-02B4-E1CE-C158FFE88202}"/>
                  </a:ext>
                </a:extLst>
              </p14:cNvPr>
              <p14:cNvContentPartPr/>
              <p14:nvPr/>
            </p14:nvContentPartPr>
            <p14:xfrm>
              <a:off x="-186480" y="2649693"/>
              <a:ext cx="360" cy="360"/>
            </p14:xfrm>
          </p:contentPart>
        </mc:Choice>
        <mc:Fallback xmlns="">
          <p:pic>
            <p:nvPicPr>
              <p:cNvPr id="31" name="Ink 30">
                <a:extLst>
                  <a:ext uri="{FF2B5EF4-FFF2-40B4-BE49-F238E27FC236}">
                    <a16:creationId xmlns:a16="http://schemas.microsoft.com/office/drawing/2014/main" id="{B1CFB83B-3EDE-02B4-E1CE-C158FFE88202}"/>
                  </a:ext>
                </a:extLst>
              </p:cNvPr>
              <p:cNvPicPr/>
              <p:nvPr/>
            </p:nvPicPr>
            <p:blipFill>
              <a:blip r:embed="rId17"/>
              <a:stretch>
                <a:fillRect/>
              </a:stretch>
            </p:blipFill>
            <p:spPr>
              <a:xfrm>
                <a:off x="-240480" y="2541693"/>
                <a:ext cx="108000" cy="216000"/>
              </a:xfrm>
              <a:prstGeom prst="rect">
                <a:avLst/>
              </a:prstGeom>
            </p:spPr>
          </p:pic>
        </mc:Fallback>
      </mc:AlternateContent>
    </p:spTree>
    <p:extLst>
      <p:ext uri="{BB962C8B-B14F-4D97-AF65-F5344CB8AC3E}">
        <p14:creationId xmlns:p14="http://schemas.microsoft.com/office/powerpoint/2010/main" val="2919661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C16457-E839-5F47-80A9-2AAF2E539DFA}"/>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E5BBD3C3-4000-4A4E-2CD8-771C02E64A9E}"/>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0D1DF335-A62C-6AEE-CD56-4C1234FE22FA}"/>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F8939092-6B5E-39A3-EE06-7F58597AFC81}"/>
              </a:ext>
            </a:extLst>
          </p:cNvPr>
          <p:cNvSpPr/>
          <p:nvPr/>
        </p:nvSpPr>
        <p:spPr>
          <a:xfrm>
            <a:off x="53" y="95250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chemeClr val="accent2">
                <a:lumMod val="75000"/>
              </a:schemeClr>
            </a:solidFill>
          </a:ln>
        </p:spPr>
        <p:txBody>
          <a:bodyPr/>
          <a:lstStyle/>
          <a:p>
            <a:endParaRPr lang="en-IN" dirty="0"/>
          </a:p>
        </p:txBody>
      </p:sp>
      <p:pic>
        <p:nvPicPr>
          <p:cNvPr id="28" name="Picture 2" descr="logo">
            <a:extLst>
              <a:ext uri="{FF2B5EF4-FFF2-40B4-BE49-F238E27FC236}">
                <a16:creationId xmlns:a16="http://schemas.microsoft.com/office/drawing/2014/main" id="{B0775B41-0237-8525-2E59-32357DBA5F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84D293F1-4B57-2E6D-B751-C6E92AD1D3B9}"/>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1C53BD48-90FB-B766-0D0B-5FB7FD1E54F0}"/>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Glimpses of Power BI Dashboard</a:t>
            </a:r>
          </a:p>
        </p:txBody>
      </p:sp>
      <p:cxnSp>
        <p:nvCxnSpPr>
          <p:cNvPr id="11" name="Straight Connector 10">
            <a:extLst>
              <a:ext uri="{FF2B5EF4-FFF2-40B4-BE49-F238E27FC236}">
                <a16:creationId xmlns:a16="http://schemas.microsoft.com/office/drawing/2014/main" id="{6CB4BB4A-3CA1-7700-505C-213CF489E609}"/>
              </a:ext>
            </a:extLst>
          </p:cNvPr>
          <p:cNvCxnSpPr/>
          <p:nvPr/>
        </p:nvCxnSpPr>
        <p:spPr>
          <a:xfrm>
            <a:off x="9144000" y="1382900"/>
            <a:ext cx="0" cy="814210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B347A84-B95F-C216-3B96-2DA732171AD0}"/>
              </a:ext>
            </a:extLst>
          </p:cNvPr>
          <p:cNvCxnSpPr>
            <a:cxnSpLocks/>
          </p:cNvCxnSpPr>
          <p:nvPr/>
        </p:nvCxnSpPr>
        <p:spPr>
          <a:xfrm>
            <a:off x="-114300" y="5372307"/>
            <a:ext cx="1851660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p14="http://schemas.microsoft.com/office/powerpoint/2010/main" Requires="p14">
          <p:contentPart p14:bwMode="auto" r:id="rId4">
            <p14:nvContentPartPr>
              <p14:cNvPr id="23" name="Ink 22">
                <a:extLst>
                  <a:ext uri="{FF2B5EF4-FFF2-40B4-BE49-F238E27FC236}">
                    <a16:creationId xmlns:a16="http://schemas.microsoft.com/office/drawing/2014/main" id="{4322AA90-5312-CCE5-4B3B-8604B105C97C}"/>
                  </a:ext>
                </a:extLst>
              </p14:cNvPr>
              <p14:cNvContentPartPr/>
              <p14:nvPr/>
            </p14:nvContentPartPr>
            <p14:xfrm>
              <a:off x="144720" y="2108253"/>
              <a:ext cx="156960" cy="360"/>
            </p14:xfrm>
          </p:contentPart>
        </mc:Choice>
        <mc:Fallback>
          <p:pic>
            <p:nvPicPr>
              <p:cNvPr id="23" name="Ink 22">
                <a:extLst>
                  <a:ext uri="{FF2B5EF4-FFF2-40B4-BE49-F238E27FC236}">
                    <a16:creationId xmlns:a16="http://schemas.microsoft.com/office/drawing/2014/main" id="{4322AA90-5312-CCE5-4B3B-8604B105C97C}"/>
                  </a:ext>
                </a:extLst>
              </p:cNvPr>
              <p:cNvPicPr/>
              <p:nvPr/>
            </p:nvPicPr>
            <p:blipFill>
              <a:blip r:embed="rId5"/>
              <a:stretch>
                <a:fillRect/>
              </a:stretch>
            </p:blipFill>
            <p:spPr>
              <a:xfrm>
                <a:off x="90720" y="2000253"/>
                <a:ext cx="264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655779DA-E077-BEC5-AEF4-87E6CDC26191}"/>
                  </a:ext>
                </a:extLst>
              </p14:cNvPr>
              <p14:cNvContentPartPr/>
              <p14:nvPr/>
            </p14:nvContentPartPr>
            <p14:xfrm>
              <a:off x="135000" y="2065053"/>
              <a:ext cx="254880" cy="43200"/>
            </p14:xfrm>
          </p:contentPart>
        </mc:Choice>
        <mc:Fallback>
          <p:pic>
            <p:nvPicPr>
              <p:cNvPr id="24" name="Ink 23">
                <a:extLst>
                  <a:ext uri="{FF2B5EF4-FFF2-40B4-BE49-F238E27FC236}">
                    <a16:creationId xmlns:a16="http://schemas.microsoft.com/office/drawing/2014/main" id="{655779DA-E077-BEC5-AEF4-87E6CDC26191}"/>
                  </a:ext>
                </a:extLst>
              </p:cNvPr>
              <p:cNvPicPr/>
              <p:nvPr/>
            </p:nvPicPr>
            <p:blipFill>
              <a:blip r:embed="rId7"/>
              <a:stretch>
                <a:fillRect/>
              </a:stretch>
            </p:blipFill>
            <p:spPr>
              <a:xfrm>
                <a:off x="81000" y="1957053"/>
                <a:ext cx="36252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0" name="Ink 29">
                <a:extLst>
                  <a:ext uri="{FF2B5EF4-FFF2-40B4-BE49-F238E27FC236}">
                    <a16:creationId xmlns:a16="http://schemas.microsoft.com/office/drawing/2014/main" id="{1BE7D61A-6135-96DF-AF02-BE58E3742AAD}"/>
                  </a:ext>
                </a:extLst>
              </p14:cNvPr>
              <p14:cNvContentPartPr/>
              <p14:nvPr/>
            </p14:nvContentPartPr>
            <p14:xfrm>
              <a:off x="155520" y="2082693"/>
              <a:ext cx="242280" cy="17640"/>
            </p14:xfrm>
          </p:contentPart>
        </mc:Choice>
        <mc:Fallback>
          <p:pic>
            <p:nvPicPr>
              <p:cNvPr id="30" name="Ink 29">
                <a:extLst>
                  <a:ext uri="{FF2B5EF4-FFF2-40B4-BE49-F238E27FC236}">
                    <a16:creationId xmlns:a16="http://schemas.microsoft.com/office/drawing/2014/main" id="{1BE7D61A-6135-96DF-AF02-BE58E3742AAD}"/>
                  </a:ext>
                </a:extLst>
              </p:cNvPr>
              <p:cNvPicPr/>
              <p:nvPr/>
            </p:nvPicPr>
            <p:blipFill>
              <a:blip r:embed="rId9"/>
              <a:stretch>
                <a:fillRect/>
              </a:stretch>
            </p:blipFill>
            <p:spPr>
              <a:xfrm>
                <a:off x="101520" y="1974693"/>
                <a:ext cx="34992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1" name="Ink 30">
                <a:extLst>
                  <a:ext uri="{FF2B5EF4-FFF2-40B4-BE49-F238E27FC236}">
                    <a16:creationId xmlns:a16="http://schemas.microsoft.com/office/drawing/2014/main" id="{83AB9693-9BBD-DB38-9644-4022780A6C4A}"/>
                  </a:ext>
                </a:extLst>
              </p14:cNvPr>
              <p14:cNvContentPartPr/>
              <p14:nvPr/>
            </p14:nvContentPartPr>
            <p14:xfrm>
              <a:off x="-186480" y="2649693"/>
              <a:ext cx="360" cy="360"/>
            </p14:xfrm>
          </p:contentPart>
        </mc:Choice>
        <mc:Fallback>
          <p:pic>
            <p:nvPicPr>
              <p:cNvPr id="31" name="Ink 30">
                <a:extLst>
                  <a:ext uri="{FF2B5EF4-FFF2-40B4-BE49-F238E27FC236}">
                    <a16:creationId xmlns:a16="http://schemas.microsoft.com/office/drawing/2014/main" id="{83AB9693-9BBD-DB38-9644-4022780A6C4A}"/>
                  </a:ext>
                </a:extLst>
              </p:cNvPr>
              <p:cNvPicPr/>
              <p:nvPr/>
            </p:nvPicPr>
            <p:blipFill>
              <a:blip r:embed="rId11"/>
              <a:stretch>
                <a:fillRect/>
              </a:stretch>
            </p:blipFill>
            <p:spPr>
              <a:xfrm>
                <a:off x="-240480" y="2541693"/>
                <a:ext cx="108000" cy="216000"/>
              </a:xfrm>
              <a:prstGeom prst="rect">
                <a:avLst/>
              </a:prstGeom>
            </p:spPr>
          </p:pic>
        </mc:Fallback>
      </mc:AlternateContent>
      <p:pic>
        <p:nvPicPr>
          <p:cNvPr id="4" name="Picture 3">
            <a:extLst>
              <a:ext uri="{FF2B5EF4-FFF2-40B4-BE49-F238E27FC236}">
                <a16:creationId xmlns:a16="http://schemas.microsoft.com/office/drawing/2014/main" id="{2E9A1F3B-4174-E5B9-3FE0-D02580173A21}"/>
              </a:ext>
            </a:extLst>
          </p:cNvPr>
          <p:cNvPicPr>
            <a:picLocks noChangeAspect="1"/>
          </p:cNvPicPr>
          <p:nvPr/>
        </p:nvPicPr>
        <p:blipFill>
          <a:blip r:embed="rId12"/>
          <a:stretch>
            <a:fillRect/>
          </a:stretch>
        </p:blipFill>
        <p:spPr>
          <a:xfrm>
            <a:off x="1063778" y="1377740"/>
            <a:ext cx="7092697" cy="4002149"/>
          </a:xfrm>
          <a:prstGeom prst="rect">
            <a:avLst/>
          </a:prstGeom>
        </p:spPr>
      </p:pic>
      <p:pic>
        <p:nvPicPr>
          <p:cNvPr id="7" name="Picture 6">
            <a:extLst>
              <a:ext uri="{FF2B5EF4-FFF2-40B4-BE49-F238E27FC236}">
                <a16:creationId xmlns:a16="http://schemas.microsoft.com/office/drawing/2014/main" id="{05D553AC-A1B5-4634-FD09-E765840B2F4D}"/>
              </a:ext>
            </a:extLst>
          </p:cNvPr>
          <p:cNvPicPr>
            <a:picLocks noChangeAspect="1"/>
          </p:cNvPicPr>
          <p:nvPr/>
        </p:nvPicPr>
        <p:blipFill>
          <a:blip r:embed="rId13"/>
          <a:stretch>
            <a:fillRect/>
          </a:stretch>
        </p:blipFill>
        <p:spPr>
          <a:xfrm>
            <a:off x="838200" y="5469863"/>
            <a:ext cx="7092695" cy="3992855"/>
          </a:xfrm>
          <a:prstGeom prst="rect">
            <a:avLst/>
          </a:prstGeom>
        </p:spPr>
      </p:pic>
      <p:pic>
        <p:nvPicPr>
          <p:cNvPr id="10" name="Picture 9">
            <a:extLst>
              <a:ext uri="{FF2B5EF4-FFF2-40B4-BE49-F238E27FC236}">
                <a16:creationId xmlns:a16="http://schemas.microsoft.com/office/drawing/2014/main" id="{F677FD81-AECF-207F-3841-7D609E3E02D4}"/>
              </a:ext>
            </a:extLst>
          </p:cNvPr>
          <p:cNvPicPr>
            <a:picLocks noChangeAspect="1"/>
          </p:cNvPicPr>
          <p:nvPr/>
        </p:nvPicPr>
        <p:blipFill>
          <a:blip r:embed="rId14"/>
          <a:stretch>
            <a:fillRect/>
          </a:stretch>
        </p:blipFill>
        <p:spPr>
          <a:xfrm>
            <a:off x="10319006" y="1476452"/>
            <a:ext cx="6781799" cy="3761201"/>
          </a:xfrm>
          <a:prstGeom prst="rect">
            <a:avLst/>
          </a:prstGeom>
        </p:spPr>
      </p:pic>
      <p:pic>
        <p:nvPicPr>
          <p:cNvPr id="15" name="Picture 14">
            <a:extLst>
              <a:ext uri="{FF2B5EF4-FFF2-40B4-BE49-F238E27FC236}">
                <a16:creationId xmlns:a16="http://schemas.microsoft.com/office/drawing/2014/main" id="{DEC658D8-BEF4-615F-92FF-8EF1C9D32D5B}"/>
              </a:ext>
            </a:extLst>
          </p:cNvPr>
          <p:cNvPicPr>
            <a:picLocks noChangeAspect="1"/>
          </p:cNvPicPr>
          <p:nvPr/>
        </p:nvPicPr>
        <p:blipFill>
          <a:blip r:embed="rId15"/>
          <a:stretch>
            <a:fillRect/>
          </a:stretch>
        </p:blipFill>
        <p:spPr>
          <a:xfrm>
            <a:off x="10319006" y="5521040"/>
            <a:ext cx="7092697" cy="3890499"/>
          </a:xfrm>
          <a:prstGeom prst="rect">
            <a:avLst/>
          </a:prstGeom>
        </p:spPr>
      </p:pic>
    </p:spTree>
    <p:extLst>
      <p:ext uri="{BB962C8B-B14F-4D97-AF65-F5344CB8AC3E}">
        <p14:creationId xmlns:p14="http://schemas.microsoft.com/office/powerpoint/2010/main" val="1312570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2F2BE6-62C6-6605-0FAD-7FBAFB10640D}"/>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D9155D11-D5B6-A0B2-377F-7529367F519F}"/>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32BC7D14-C078-7F71-D967-3BA0AD0F4F77}"/>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F1676DA0-6A40-EE3C-4BD2-0AE83950D168}"/>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dirty="0"/>
          </a:p>
        </p:txBody>
      </p:sp>
      <p:pic>
        <p:nvPicPr>
          <p:cNvPr id="28" name="Picture 2" descr="logo">
            <a:extLst>
              <a:ext uri="{FF2B5EF4-FFF2-40B4-BE49-F238E27FC236}">
                <a16:creationId xmlns:a16="http://schemas.microsoft.com/office/drawing/2014/main" id="{BA683C72-7ED7-BF3C-DE6A-175D9178D1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BEC1F2AF-2ACD-A9C9-37FB-565B4274F672}"/>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37" name="TextBox 4">
            <a:extLst>
              <a:ext uri="{FF2B5EF4-FFF2-40B4-BE49-F238E27FC236}">
                <a16:creationId xmlns:a16="http://schemas.microsoft.com/office/drawing/2014/main" id="{97578917-3D7D-5320-414A-2058A650DB9C}"/>
              </a:ext>
            </a:extLst>
          </p:cNvPr>
          <p:cNvSpPr txBox="1"/>
          <p:nvPr/>
        </p:nvSpPr>
        <p:spPr>
          <a:xfrm>
            <a:off x="228600" y="181052"/>
            <a:ext cx="14890360" cy="1096390"/>
          </a:xfrm>
          <a:prstGeom prst="rect">
            <a:avLst/>
          </a:prstGeom>
        </p:spPr>
        <p:txBody>
          <a:bodyPr wrap="square" lIns="0" tIns="0" rIns="0" bIns="0" rtlCol="0" anchor="ctr">
            <a:spAutoFit/>
          </a:bodyPr>
          <a:lstStyle/>
          <a:p>
            <a:pPr>
              <a:lnSpc>
                <a:spcPts val="8159"/>
              </a:lnSpc>
            </a:pPr>
            <a:r>
              <a:rPr lang="en-US" sz="7999" b="1" dirty="0">
                <a:latin typeface="Aparajita" panose="02020603050405020304" pitchFamily="18" charset="0"/>
                <a:ea typeface="Telegraf Bold"/>
                <a:cs typeface="Aparajita" panose="02020603050405020304" pitchFamily="18" charset="0"/>
                <a:sym typeface="Telegraf Bold"/>
              </a:rPr>
              <a:t>Project Progress</a:t>
            </a:r>
          </a:p>
        </p:txBody>
      </p:sp>
      <p:pic>
        <p:nvPicPr>
          <p:cNvPr id="4" name="Picture 3">
            <a:extLst>
              <a:ext uri="{FF2B5EF4-FFF2-40B4-BE49-F238E27FC236}">
                <a16:creationId xmlns:a16="http://schemas.microsoft.com/office/drawing/2014/main" id="{E22CA3D5-9551-D0F0-DE62-80D998E1F9DC}"/>
              </a:ext>
            </a:extLst>
          </p:cNvPr>
          <p:cNvPicPr>
            <a:picLocks noChangeAspect="1"/>
          </p:cNvPicPr>
          <p:nvPr/>
        </p:nvPicPr>
        <p:blipFill>
          <a:blip r:embed="rId4"/>
          <a:stretch>
            <a:fillRect/>
          </a:stretch>
        </p:blipFill>
        <p:spPr>
          <a:xfrm>
            <a:off x="1905000" y="1316290"/>
            <a:ext cx="14478000" cy="8143875"/>
          </a:xfrm>
          <a:prstGeom prst="rect">
            <a:avLst/>
          </a:prstGeom>
        </p:spPr>
      </p:pic>
    </p:spTree>
    <p:extLst>
      <p:ext uri="{BB962C8B-B14F-4D97-AF65-F5344CB8AC3E}">
        <p14:creationId xmlns:p14="http://schemas.microsoft.com/office/powerpoint/2010/main" val="2974749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5EB8FA-C829-EB01-FD78-F3886DEA16FD}"/>
            </a:ext>
          </a:extLst>
        </p:cNvPr>
        <p:cNvGrpSpPr/>
        <p:nvPr/>
      </p:nvGrpSpPr>
      <p:grpSpPr>
        <a:xfrm>
          <a:off x="0" y="0"/>
          <a:ext cx="0" cy="0"/>
          <a:chOff x="0" y="0"/>
          <a:chExt cx="0" cy="0"/>
        </a:xfrm>
      </p:grpSpPr>
      <p:grpSp>
        <p:nvGrpSpPr>
          <p:cNvPr id="25" name="Group 4">
            <a:extLst>
              <a:ext uri="{FF2B5EF4-FFF2-40B4-BE49-F238E27FC236}">
                <a16:creationId xmlns:a16="http://schemas.microsoft.com/office/drawing/2014/main" id="{A56D5CFF-2D32-85D1-9C26-8CD56102E054}"/>
              </a:ext>
            </a:extLst>
          </p:cNvPr>
          <p:cNvGrpSpPr/>
          <p:nvPr/>
        </p:nvGrpSpPr>
        <p:grpSpPr>
          <a:xfrm>
            <a:off x="0" y="1287781"/>
            <a:ext cx="18318125" cy="57019"/>
            <a:chOff x="0" y="0"/>
            <a:chExt cx="9185420" cy="169434"/>
          </a:xfrm>
          <a:solidFill>
            <a:schemeClr val="accent2">
              <a:lumMod val="60000"/>
              <a:lumOff val="40000"/>
            </a:schemeClr>
          </a:solidFill>
        </p:grpSpPr>
        <p:sp>
          <p:nvSpPr>
            <p:cNvPr id="26" name="Freeform 5">
              <a:extLst>
                <a:ext uri="{FF2B5EF4-FFF2-40B4-BE49-F238E27FC236}">
                  <a16:creationId xmlns:a16="http://schemas.microsoft.com/office/drawing/2014/main" id="{506D3CD1-5147-B2A4-C5E9-BD4896D9F9BF}"/>
                </a:ext>
              </a:extLst>
            </p:cNvPr>
            <p:cNvSpPr/>
            <p:nvPr/>
          </p:nvSpPr>
          <p:spPr>
            <a:xfrm>
              <a:off x="0" y="0"/>
              <a:ext cx="9185394" cy="169434"/>
            </a:xfrm>
            <a:custGeom>
              <a:avLst/>
              <a:gdLst/>
              <a:ahLst/>
              <a:cxnLst/>
              <a:rect l="l" t="t" r="r" b="b"/>
              <a:pathLst>
                <a:path w="9185394" h="169434">
                  <a:moveTo>
                    <a:pt x="0" y="0"/>
                  </a:moveTo>
                  <a:lnTo>
                    <a:pt x="9185394" y="0"/>
                  </a:lnTo>
                  <a:lnTo>
                    <a:pt x="9185394" y="169434"/>
                  </a:lnTo>
                  <a:lnTo>
                    <a:pt x="0" y="169434"/>
                  </a:lnTo>
                  <a:close/>
                </a:path>
              </a:pathLst>
            </a:custGeom>
            <a:grpFill/>
            <a:ln>
              <a:solidFill>
                <a:schemeClr val="accent3">
                  <a:lumMod val="50000"/>
                </a:schemeClr>
              </a:solidFill>
            </a:ln>
          </p:spPr>
          <p:txBody>
            <a:bodyPr/>
            <a:lstStyle/>
            <a:p>
              <a:endParaRPr lang="en-IN"/>
            </a:p>
          </p:txBody>
        </p:sp>
      </p:grpSp>
      <p:sp>
        <p:nvSpPr>
          <p:cNvPr id="27" name="Freeform 5">
            <a:extLst>
              <a:ext uri="{FF2B5EF4-FFF2-40B4-BE49-F238E27FC236}">
                <a16:creationId xmlns:a16="http://schemas.microsoft.com/office/drawing/2014/main" id="{B06649C5-1904-9356-7464-C9CC12ECB909}"/>
              </a:ext>
            </a:extLst>
          </p:cNvPr>
          <p:cNvSpPr/>
          <p:nvPr/>
        </p:nvSpPr>
        <p:spPr>
          <a:xfrm>
            <a:off x="53" y="9486900"/>
            <a:ext cx="18287947" cy="800100"/>
          </a:xfrm>
          <a:custGeom>
            <a:avLst/>
            <a:gdLst/>
            <a:ahLst/>
            <a:cxnLst/>
            <a:rect l="l" t="t" r="r" b="b"/>
            <a:pathLst>
              <a:path w="9185394" h="169434">
                <a:moveTo>
                  <a:pt x="0" y="0"/>
                </a:moveTo>
                <a:lnTo>
                  <a:pt x="9185394" y="0"/>
                </a:lnTo>
                <a:lnTo>
                  <a:pt x="9185394" y="169434"/>
                </a:lnTo>
                <a:lnTo>
                  <a:pt x="0" y="169434"/>
                </a:lnTo>
                <a:close/>
              </a:path>
            </a:pathLst>
          </a:custGeom>
          <a:solidFill>
            <a:schemeClr val="accent2">
              <a:lumMod val="60000"/>
              <a:lumOff val="40000"/>
            </a:schemeClr>
          </a:solidFill>
          <a:ln>
            <a:solidFill>
              <a:srgbClr val="FFCB54"/>
            </a:solidFill>
          </a:ln>
        </p:spPr>
        <p:txBody>
          <a:bodyPr/>
          <a:lstStyle/>
          <a:p>
            <a:endParaRPr lang="en-IN"/>
          </a:p>
        </p:txBody>
      </p:sp>
      <p:pic>
        <p:nvPicPr>
          <p:cNvPr id="28" name="Picture 2" descr="logo">
            <a:extLst>
              <a:ext uri="{FF2B5EF4-FFF2-40B4-BE49-F238E27FC236}">
                <a16:creationId xmlns:a16="http://schemas.microsoft.com/office/drawing/2014/main" id="{A4500C18-AF04-5A57-02D2-9979060B06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73200" y="49400"/>
            <a:ext cx="3676774" cy="113808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047B40C1-CB0E-B940-06C7-5F5AC673E637}"/>
              </a:ext>
            </a:extLst>
          </p:cNvPr>
          <p:cNvPicPr>
            <a:picLocks noChangeAspect="1"/>
          </p:cNvPicPr>
          <p:nvPr/>
        </p:nvPicPr>
        <p:blipFill>
          <a:blip r:embed="rId3">
            <a:duotone>
              <a:prstClr val="black"/>
              <a:schemeClr val="accent2">
                <a:tint val="45000"/>
                <a:satMod val="400000"/>
              </a:schemeClr>
            </a:duotone>
          </a:blip>
          <a:srcRect b="88333"/>
          <a:stretch>
            <a:fillRect/>
          </a:stretch>
        </p:blipFill>
        <p:spPr>
          <a:xfrm>
            <a:off x="1" y="0"/>
            <a:ext cx="14020800" cy="1295400"/>
          </a:xfrm>
          <a:prstGeom prst="rect">
            <a:avLst/>
          </a:prstGeom>
        </p:spPr>
      </p:pic>
      <p:sp>
        <p:nvSpPr>
          <p:cNvPr id="41" name="TextBox 40">
            <a:extLst>
              <a:ext uri="{FF2B5EF4-FFF2-40B4-BE49-F238E27FC236}">
                <a16:creationId xmlns:a16="http://schemas.microsoft.com/office/drawing/2014/main" id="{01B70F91-1CE0-FA10-96A0-D4D044BFD370}"/>
              </a:ext>
            </a:extLst>
          </p:cNvPr>
          <p:cNvSpPr txBox="1"/>
          <p:nvPr/>
        </p:nvSpPr>
        <p:spPr>
          <a:xfrm>
            <a:off x="9091475" y="3059386"/>
            <a:ext cx="8758499" cy="73353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720377" lvl="1" indent="-360189">
              <a:lnSpc>
                <a:spcPts val="5004"/>
              </a:lnSpc>
              <a:buFont typeface="Arial"/>
              <a:buChar char="•"/>
            </a:pPr>
            <a:endParaRPr lang="en-US" sz="3600" dirty="0">
              <a:solidFill>
                <a:srgbClr val="010101"/>
              </a:solidFill>
              <a:latin typeface="Aparajita" panose="02020603050405020304" pitchFamily="18" charset="0"/>
              <a:ea typeface="Open Sauce"/>
              <a:cs typeface="Aparajita" panose="02020603050405020304" pitchFamily="18" charset="0"/>
              <a:sym typeface="Open Sauce"/>
            </a:endParaRPr>
          </a:p>
        </p:txBody>
      </p:sp>
      <p:sp>
        <p:nvSpPr>
          <p:cNvPr id="2" name="TextBox 4">
            <a:extLst>
              <a:ext uri="{FF2B5EF4-FFF2-40B4-BE49-F238E27FC236}">
                <a16:creationId xmlns:a16="http://schemas.microsoft.com/office/drawing/2014/main" id="{3B418572-D91E-1C6F-511C-1B3364C26851}"/>
              </a:ext>
            </a:extLst>
          </p:cNvPr>
          <p:cNvSpPr txBox="1"/>
          <p:nvPr/>
        </p:nvSpPr>
        <p:spPr>
          <a:xfrm>
            <a:off x="4272676" y="4450329"/>
            <a:ext cx="9742648" cy="1386342"/>
          </a:xfrm>
          <a:prstGeom prst="rect">
            <a:avLst/>
          </a:prstGeom>
        </p:spPr>
        <p:txBody>
          <a:bodyPr wrap="square" lIns="0" tIns="0" rIns="0" bIns="0" rtlCol="0" anchor="ctr">
            <a:spAutoFit/>
          </a:bodyPr>
          <a:lstStyle/>
          <a:p>
            <a:pPr algn="ctr">
              <a:lnSpc>
                <a:spcPts val="11423"/>
              </a:lnSpc>
            </a:pPr>
            <a:r>
              <a:rPr lang="en-US" sz="8800" b="1" dirty="0">
                <a:latin typeface="Abadi" panose="020B0604020104020204" pitchFamily="34" charset="0"/>
                <a:ea typeface="ADLaM Display" panose="020F0502020204030204" pitchFamily="2" charset="0"/>
                <a:cs typeface="Aparajita" panose="02020603050405020304" pitchFamily="18" charset="0"/>
                <a:sym typeface="Neue Machina Ultra-Bold"/>
              </a:rPr>
              <a:t>Thank You!!!</a:t>
            </a:r>
          </a:p>
        </p:txBody>
      </p:sp>
    </p:spTree>
    <p:extLst>
      <p:ext uri="{BB962C8B-B14F-4D97-AF65-F5344CB8AC3E}">
        <p14:creationId xmlns:p14="http://schemas.microsoft.com/office/powerpoint/2010/main" val="1763869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3234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9db4e91-bad5-4fd0-9ca4-c06485916e3a}" enabled="1" method="Standard" siteId="{f66fae02-5d36-495b-bfe0-78a6ff9f8e6e}" contentBits="0" removed="0"/>
</clbl:labelList>
</file>

<file path=docProps/app.xml><?xml version="1.0" encoding="utf-8"?>
<Properties xmlns="http://schemas.openxmlformats.org/officeDocument/2006/extended-properties" xmlns:vt="http://schemas.openxmlformats.org/officeDocument/2006/docPropsVTypes">
  <TotalTime>3804</TotalTime>
  <Words>1063</Words>
  <Application>Microsoft Office PowerPoint</Application>
  <PresentationFormat>Custom</PresentationFormat>
  <Paragraphs>140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Aparajita</vt:lpstr>
      <vt:lpstr>Telegraf Bold</vt:lpstr>
      <vt:lpstr>Abadi</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Demo 1</dc:title>
  <dc:creator>Vedika Lohiya</dc:creator>
  <cp:lastModifiedBy>Vedika Lohiya</cp:lastModifiedBy>
  <cp:revision>28</cp:revision>
  <dcterms:created xsi:type="dcterms:W3CDTF">2006-08-16T00:00:00Z</dcterms:created>
  <dcterms:modified xsi:type="dcterms:W3CDTF">2026-06-09T07:57:44Z</dcterms:modified>
  <dc:identifier>DAHExYcYYCc</dc:identifier>
</cp:coreProperties>
</file>